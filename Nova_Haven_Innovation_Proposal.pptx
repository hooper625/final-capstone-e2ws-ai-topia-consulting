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543C4-8E4C-4AA6-835D-03E7F80BEAC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A21CB-474D-48D7-825B-4A748CF7A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6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123C-5CCF-7729-C505-5A1DE514A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63D42-4D30-9477-10D8-F1F998961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203D5-5D31-BAEA-E626-1A38D5BC1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1465-CACA-4102-8A6B-C76E7983F05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410D4-7817-C7E1-C470-EF9E47D0F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C51B6-5B74-10A5-DC0F-646F5025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406-9E77-4B8B-B1BE-06851453F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4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3DFDA-1AD4-14CA-E513-BA95D4CF7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F6795-651E-F94E-7C97-C5B851725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C8A4-FECB-5347-77DB-8644A035D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1465-CACA-4102-8A6B-C76E7983F05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A6595-13D8-72A0-96FE-179B5C4E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EB912-4B7A-E2F3-5437-B2A677C7D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406-9E77-4B8B-B1BE-06851453F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2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4883-34E5-5364-8F9D-B1437271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D3FA9-6175-B199-43EB-A8110942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5D3D-69CC-667F-2FA1-AFF2A083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1465-CACA-4102-8A6B-C76E7983F05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3F8F-82DA-6452-DD70-BCACB4F48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F3DA3-2E2B-56CC-BA49-5B3879C2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406-9E77-4B8B-B1BE-06851453F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2E548-A377-606C-D620-B8ED24D91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D6324-6816-CD51-8A3D-DF1C6B862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8722B-09FF-EAB0-409C-870B84A4D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A2354-F601-0015-A6AC-F2BD7F75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1465-CACA-4102-8A6B-C76E7983F05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3E73-AD67-1536-803B-CAECAE51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6BD76-96F6-94DC-3E6A-EFD558E1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406-9E77-4B8B-B1BE-06851453F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30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2B0E-747E-AA46-491C-FE0551EBA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85E8F-623E-161C-E0DE-6C45652E2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F3551-24D8-F350-DE89-36EF21013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A20B5-0BE0-8160-6D92-2B4D0A5F3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21FD19-0449-381E-598F-E7B921FC93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5622AA-B95B-9A7A-CD12-6B96E6CB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1465-CACA-4102-8A6B-C76E7983F05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122D40-0863-C5B1-6892-28613DBDC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8DC3DE-6C8D-EE10-01A4-21C89E4D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406-9E77-4B8B-B1BE-06851453F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0388A-9E62-4CD5-E8C5-10EA56F74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B0BA8-74DE-F854-9186-BB36820EE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1465-CACA-4102-8A6B-C76E7983F05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990B0-9D23-06D8-D4EA-542943D1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05045-70C7-9457-73C3-71D84B66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406-9E77-4B8B-B1BE-06851453F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42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32B76B-8C74-FA5C-CD83-5FC9AEBAC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1465-CACA-4102-8A6B-C76E7983F05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6BB027-AF64-0270-360A-A289C295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A9BA3-29A6-A9D1-ED02-98ED5EB9E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406-9E77-4B8B-B1BE-06851453F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8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A5E2-48BB-0521-99A7-10EE90CB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4B52-56BD-43C5-6007-38A205515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92391-FF01-9897-0B4C-82619834E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47117-7F69-CE1E-AFD4-35ABCC7D7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1465-CACA-4102-8A6B-C76E7983F05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CFDF8-08F3-A028-B7F6-7469E3B3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44B7C-0C4C-0532-04A0-9ECFE3EF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406-9E77-4B8B-B1BE-06851453F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93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7B41-51A0-9D49-83DE-7A36D41B6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74AF4-876F-EDD6-841D-AB2AF70E7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039AE-CE24-659C-14C1-438F44655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4989F-39CB-E059-3A19-DD4D3DD1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1465-CACA-4102-8A6B-C76E7983F05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74721-153F-DEB8-E231-1FD1F1C1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EFCEB-24A5-9E85-2461-57B09F77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406-9E77-4B8B-B1BE-06851453F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6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1288-DE48-D14E-961B-EC62A26B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571E0-6DCC-783E-ABE9-5463F3ED9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AD157-7CA1-7DC6-62AD-629CCF387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1465-CACA-4102-8A6B-C76E7983F05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D8D1F-31C8-7C72-D5CB-6D177FFA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A1926-CD4F-FF87-C222-56CC5367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406-9E77-4B8B-B1BE-06851453F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4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68FDC6-496C-AE81-34B2-9CD16827E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D63E-5BD6-24F6-850A-24F4AD39D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63F67-88ED-7394-2509-912601E4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1465-CACA-4102-8A6B-C76E7983F05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32AC6-D182-0F1B-3BED-668B8174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17267-C6A6-0067-9AA3-BC5AFF59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406-9E77-4B8B-B1BE-06851453F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5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46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2F853A-EBCF-A848-EF6D-6929D1586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32D5C-2EF8-4A77-7F40-3DED99C5A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9704E-AD3E-A2AA-80B1-B8BBCE3E6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21465-CACA-4102-8A6B-C76E7983F05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AF6F2-ED59-A8EE-CA19-89BBE6E8F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8339E-8207-912D-7596-5300972B1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3A406-9E77-4B8B-B1BE-06851453F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svg"/><Relationship Id="rId18" Type="http://schemas.openxmlformats.org/officeDocument/2006/relationships/image" Target="../media/image2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sv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7.svg"/><Relationship Id="rId20" Type="http://schemas.openxmlformats.org/officeDocument/2006/relationships/image" Target="../media/image3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svg"/><Relationship Id="rId19" Type="http://schemas.openxmlformats.org/officeDocument/2006/relationships/image" Target="../media/image30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Relationship Id="rId1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Relationship Id="rId9" Type="http://schemas.openxmlformats.org/officeDocument/2006/relationships/image" Target="../media/image3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sv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12" Type="http://schemas.openxmlformats.org/officeDocument/2006/relationships/image" Target="../media/image4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11" Type="http://schemas.openxmlformats.org/officeDocument/2006/relationships/image" Target="../media/image47.svg"/><Relationship Id="rId5" Type="http://schemas.openxmlformats.org/officeDocument/2006/relationships/image" Target="../media/image41.sv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sv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sv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4" Type="http://schemas.openxmlformats.org/officeDocument/2006/relationships/image" Target="../media/image6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svg"/><Relationship Id="rId7" Type="http://schemas.openxmlformats.org/officeDocument/2006/relationships/image" Target="../media/image72.svg"/><Relationship Id="rId12" Type="http://schemas.openxmlformats.org/officeDocument/2006/relationships/image" Target="../media/image7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svg"/><Relationship Id="rId11" Type="http://schemas.openxmlformats.org/officeDocument/2006/relationships/image" Target="../media/image76.svg"/><Relationship Id="rId5" Type="http://schemas.openxmlformats.org/officeDocument/2006/relationships/image" Target="../media/image70.svg"/><Relationship Id="rId10" Type="http://schemas.openxmlformats.org/officeDocument/2006/relationships/image" Target="../media/image75.svg"/><Relationship Id="rId4" Type="http://schemas.openxmlformats.org/officeDocument/2006/relationships/image" Target="../media/image69.svg"/><Relationship Id="rId9" Type="http://schemas.openxmlformats.org/officeDocument/2006/relationships/image" Target="../media/image7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7" Type="http://schemas.openxmlformats.org/officeDocument/2006/relationships/image" Target="../media/image8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svg"/><Relationship Id="rId5" Type="http://schemas.openxmlformats.org/officeDocument/2006/relationships/image" Target="../media/image80.svg"/><Relationship Id="rId4" Type="http://schemas.openxmlformats.org/officeDocument/2006/relationships/image" Target="../media/image7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6.svg"/><Relationship Id="rId5" Type="http://schemas.openxmlformats.org/officeDocument/2006/relationships/image" Target="../media/image85.svg"/><Relationship Id="rId4" Type="http://schemas.openxmlformats.org/officeDocument/2006/relationships/image" Target="../media/image8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13" Type="http://schemas.openxmlformats.org/officeDocument/2006/relationships/image" Target="../media/image98.svg"/><Relationship Id="rId3" Type="http://schemas.openxmlformats.org/officeDocument/2006/relationships/image" Target="../media/image88.svg"/><Relationship Id="rId7" Type="http://schemas.openxmlformats.org/officeDocument/2006/relationships/image" Target="../media/image92.svg"/><Relationship Id="rId12" Type="http://schemas.openxmlformats.org/officeDocument/2006/relationships/image" Target="../media/image9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1.svg"/><Relationship Id="rId11" Type="http://schemas.openxmlformats.org/officeDocument/2006/relationships/image" Target="../media/image96.svg"/><Relationship Id="rId5" Type="http://schemas.openxmlformats.org/officeDocument/2006/relationships/image" Target="../media/image90.svg"/><Relationship Id="rId10" Type="http://schemas.openxmlformats.org/officeDocument/2006/relationships/image" Target="../media/image95.svg"/><Relationship Id="rId4" Type="http://schemas.openxmlformats.org/officeDocument/2006/relationships/image" Target="../media/image89.svg"/><Relationship Id="rId9" Type="http://schemas.openxmlformats.org/officeDocument/2006/relationships/image" Target="../media/image9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2.svg"/><Relationship Id="rId5" Type="http://schemas.openxmlformats.org/officeDocument/2006/relationships/image" Target="../media/image101.svg"/><Relationship Id="rId4" Type="http://schemas.openxmlformats.org/officeDocument/2006/relationships/image" Target="../media/image10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60000">
                <a:srgbClr val="FFFFFF">
                  <a:alpha val="88000"/>
                </a:srgbClr>
              </a:gs>
              <a:gs pos="100000">
                <a:srgbClr val="F2F5F8">
                  <a:alpha val="96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0" y="1"/>
            <a:ext cx="12192000" cy="47228"/>
          </a:xfrm>
          <a:prstGeom prst="rect">
            <a:avLst/>
          </a:prstGeom>
          <a:gradFill rotWithShape="1">
            <a:gsLst>
              <a:gs pos="0">
                <a:srgbClr val="2B5EA7"/>
              </a:gs>
              <a:gs pos="100000">
                <a:srgbClr val="1A274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62000" y="572293"/>
            <a:ext cx="38893" cy="457200"/>
          </a:xfrm>
          <a:prstGeom prst="roundRect">
            <a:avLst>
              <a:gd name="adj" fmla="val 47892"/>
            </a:avLst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377091" y="533401"/>
            <a:ext cx="115820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kern="0" spc="18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27" dirty="0"/>
          </a:p>
        </p:txBody>
      </p:sp>
      <p:sp>
        <p:nvSpPr>
          <p:cNvPr id="7" name="Text 4"/>
          <p:cNvSpPr/>
          <p:nvPr/>
        </p:nvSpPr>
        <p:spPr>
          <a:xfrm>
            <a:off x="762000" y="2202457"/>
            <a:ext cx="11734800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b="1" kern="0" spc="22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INTELLIGENCE STRATEGY</a:t>
            </a:r>
            <a:endParaRPr lang="en-US" sz="907" dirty="0"/>
          </a:p>
        </p:txBody>
      </p:sp>
      <p:sp>
        <p:nvSpPr>
          <p:cNvPr id="8" name="Text 5"/>
          <p:cNvSpPr/>
          <p:nvPr/>
        </p:nvSpPr>
        <p:spPr>
          <a:xfrm>
            <a:off x="762000" y="2566393"/>
            <a:ext cx="8257568" cy="1166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76"/>
              </a:lnSpc>
              <a:spcAft>
                <a:spcPts val="1800"/>
              </a:spcAft>
            </a:pPr>
            <a:r>
              <a:rPr lang="en-US" sz="3907" kern="0" spc="-4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Reimagining City Operations</a:t>
            </a:r>
            <a:br>
              <a:rPr sz="2400"/>
            </a:br>
            <a:r>
              <a:rPr lang="en-US" sz="3907" kern="0" spc="-4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</a:t>
            </a:r>
            <a:r>
              <a:rPr lang="en-US" sz="3907" b="1" kern="0" spc="-4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</a:t>
            </a:r>
            <a:endParaRPr lang="en-US" sz="3907" dirty="0"/>
          </a:p>
        </p:txBody>
      </p:sp>
      <p:sp>
        <p:nvSpPr>
          <p:cNvPr id="9" name="Text 6"/>
          <p:cNvSpPr/>
          <p:nvPr/>
        </p:nvSpPr>
        <p:spPr>
          <a:xfrm>
            <a:off x="762000" y="3906243"/>
            <a:ext cx="609600" cy="28773"/>
          </a:xfrm>
          <a:prstGeom prst="roundRect">
            <a:avLst>
              <a:gd name="adj" fmla="val 64736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62000" y="4163617"/>
            <a:ext cx="11734800" cy="286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0"/>
              </a:lnSpc>
              <a:spcAft>
                <a:spcPts val="600"/>
              </a:spcAft>
            </a:pPr>
            <a:r>
              <a:rPr lang="en-US" sz="1507" kern="0" spc="13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Nova Haven UrbanPulse Analytics Transformation Proposal</a:t>
            </a:r>
            <a:endParaRPr lang="en-US" sz="1507" dirty="0"/>
          </a:p>
        </p:txBody>
      </p:sp>
      <p:sp>
        <p:nvSpPr>
          <p:cNvPr id="11" name="Text 8"/>
          <p:cNvSpPr/>
          <p:nvPr/>
        </p:nvSpPr>
        <p:spPr>
          <a:xfrm>
            <a:off x="762000" y="4526757"/>
            <a:ext cx="11734800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280" kern="0" spc="1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Service Delivery to Predictive Urban Intelligence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gradFill rotWithShape="1">
            <a:gsLst>
              <a:gs pos="0">
                <a:srgbClr val="1A2744"/>
              </a:gs>
              <a:gs pos="100000">
                <a:srgbClr val="223556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3328" y="6426609"/>
            <a:ext cx="176784" cy="1767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38548" y="6408340"/>
            <a:ext cx="29522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20" b="1" kern="0" spc="2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$20M–$35M Annual Value Opportunity</a:t>
            </a:r>
            <a:endParaRPr lang="en-US" sz="1120" dirty="0"/>
          </a:p>
        </p:txBody>
      </p:sp>
      <p:sp>
        <p:nvSpPr>
          <p:cNvPr id="15" name="Text 11"/>
          <p:cNvSpPr/>
          <p:nvPr/>
        </p:nvSpPr>
        <p:spPr>
          <a:xfrm>
            <a:off x="5103416" y="6362700"/>
            <a:ext cx="10120" cy="3048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7879" y="6426609"/>
            <a:ext cx="176784" cy="1767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53100" y="6408340"/>
            <a:ext cx="78952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20" b="1" kern="0" spc="2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7–12x ROI</a:t>
            </a:r>
            <a:endParaRPr lang="en-US" sz="1120" dirty="0"/>
          </a:p>
        </p:txBody>
      </p:sp>
      <p:sp>
        <p:nvSpPr>
          <p:cNvPr id="18" name="Text 13"/>
          <p:cNvSpPr/>
          <p:nvPr/>
        </p:nvSpPr>
        <p:spPr>
          <a:xfrm>
            <a:off x="6851848" y="6362700"/>
            <a:ext cx="10120" cy="3048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6312" y="6426609"/>
            <a:ext cx="176784" cy="1767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01533" y="6408340"/>
            <a:ext cx="320153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20" b="1" kern="0" spc="2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Long-Term AI Partnership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57200"/>
            <a:ext cx="12237720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b="1" kern="0" spc="12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907" dirty="0"/>
          </a:p>
        </p:txBody>
      </p:sp>
      <p:sp>
        <p:nvSpPr>
          <p:cNvPr id="3" name="Text 1"/>
          <p:cNvSpPr/>
          <p:nvPr/>
        </p:nvSpPr>
        <p:spPr>
          <a:xfrm>
            <a:off x="533401" y="705843"/>
            <a:ext cx="11903964" cy="38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5"/>
              </a:lnSpc>
              <a:spcBef>
                <a:spcPts val="453"/>
              </a:spcBef>
            </a:pPr>
            <a:r>
              <a:rPr lang="en-US" sz="2547" kern="0" spc="-27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Nova Haven's Scale Creates Urgency</a:t>
            </a:r>
            <a:endParaRPr lang="en-US" sz="2547" dirty="0"/>
          </a:p>
        </p:txBody>
      </p:sp>
      <p:sp>
        <p:nvSpPr>
          <p:cNvPr id="4" name="Text 2"/>
          <p:cNvSpPr/>
          <p:nvPr/>
        </p:nvSpPr>
        <p:spPr>
          <a:xfrm>
            <a:off x="533400" y="1221185"/>
            <a:ext cx="514747" cy="33735"/>
          </a:xfrm>
          <a:prstGeom prst="roundRect">
            <a:avLst>
              <a:gd name="adj" fmla="val 55215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3400" y="1522413"/>
            <a:ext cx="3580805" cy="1501775"/>
          </a:xfrm>
          <a:prstGeom prst="roundRect">
            <a:avLst>
              <a:gd name="adj" fmla="val 6314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400" y="1522412"/>
            <a:ext cx="3580805" cy="25400"/>
          </a:xfrm>
          <a:custGeom>
            <a:avLst/>
            <a:gdLst/>
            <a:ahLst/>
            <a:cxnLst/>
            <a:rect l="l" t="t" r="r" b="b"/>
            <a:pathLst>
              <a:path w="2685604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662927" y="19050"/>
                </a:lnTo>
                <a:lnTo>
                  <a:pt x="2660234" y="16669"/>
                </a:lnTo>
                <a:lnTo>
                  <a:pt x="2657240" y="14288"/>
                </a:lnTo>
                <a:lnTo>
                  <a:pt x="2653876" y="11906"/>
                </a:lnTo>
                <a:lnTo>
                  <a:pt x="2650038" y="9525"/>
                </a:lnTo>
                <a:lnTo>
                  <a:pt x="2645549" y="7144"/>
                </a:lnTo>
                <a:lnTo>
                  <a:pt x="2640071" y="4763"/>
                </a:lnTo>
                <a:lnTo>
                  <a:pt x="2632733" y="2381"/>
                </a:lnTo>
                <a:lnTo>
                  <a:pt x="2614483" y="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4255" y="1757760"/>
            <a:ext cx="362347" cy="362347"/>
          </a:xfrm>
          <a:prstGeom prst="roundRect">
            <a:avLst>
              <a:gd name="adj" fmla="val 21030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937" y="1850441"/>
            <a:ext cx="176784" cy="1767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255" y="2196109"/>
            <a:ext cx="884771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3000" b="1" kern="0" spc="-4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8.3M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04255" y="2672755"/>
            <a:ext cx="1228924" cy="180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21"/>
              </a:lnSpc>
            </a:pPr>
            <a:r>
              <a:rPr lang="en-US" sz="1093" kern="0" spc="1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Served</a:t>
            </a:r>
            <a:endParaRPr lang="en-US" sz="1093" dirty="0"/>
          </a:p>
        </p:txBody>
      </p:sp>
      <p:sp>
        <p:nvSpPr>
          <p:cNvPr id="11" name="Text 8"/>
          <p:cNvSpPr/>
          <p:nvPr/>
        </p:nvSpPr>
        <p:spPr>
          <a:xfrm>
            <a:off x="4305499" y="1522413"/>
            <a:ext cx="3580805" cy="1501775"/>
          </a:xfrm>
          <a:prstGeom prst="roundRect">
            <a:avLst>
              <a:gd name="adj" fmla="val 6314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305499" y="1522412"/>
            <a:ext cx="3580805" cy="25400"/>
          </a:xfrm>
          <a:custGeom>
            <a:avLst/>
            <a:gdLst/>
            <a:ahLst/>
            <a:cxnLst/>
            <a:rect l="l" t="t" r="r" b="b"/>
            <a:pathLst>
              <a:path w="2685604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662927" y="19050"/>
                </a:lnTo>
                <a:lnTo>
                  <a:pt x="2660234" y="16669"/>
                </a:lnTo>
                <a:lnTo>
                  <a:pt x="2657240" y="14288"/>
                </a:lnTo>
                <a:lnTo>
                  <a:pt x="2653876" y="11906"/>
                </a:lnTo>
                <a:lnTo>
                  <a:pt x="2650038" y="9525"/>
                </a:lnTo>
                <a:lnTo>
                  <a:pt x="2645549" y="7144"/>
                </a:lnTo>
                <a:lnTo>
                  <a:pt x="2640071" y="4763"/>
                </a:lnTo>
                <a:lnTo>
                  <a:pt x="2632733" y="2381"/>
                </a:lnTo>
                <a:lnTo>
                  <a:pt x="2614483" y="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476353" y="1757760"/>
            <a:ext cx="362347" cy="362347"/>
          </a:xfrm>
          <a:prstGeom prst="roundRect">
            <a:avLst>
              <a:gd name="adj" fmla="val 21030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9036" y="1850441"/>
            <a:ext cx="176784" cy="1767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76353" y="2196109"/>
            <a:ext cx="884771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3000" b="1" kern="0" spc="-4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3.4M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476354" y="2672755"/>
            <a:ext cx="1598473" cy="180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21"/>
              </a:lnSpc>
            </a:pPr>
            <a:r>
              <a:rPr lang="en-US" sz="1093" kern="0" spc="1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311 Complaints</a:t>
            </a:r>
            <a:endParaRPr lang="en-US" sz="1093" dirty="0"/>
          </a:p>
        </p:txBody>
      </p:sp>
      <p:sp>
        <p:nvSpPr>
          <p:cNvPr id="17" name="Text 13"/>
          <p:cNvSpPr/>
          <p:nvPr/>
        </p:nvSpPr>
        <p:spPr>
          <a:xfrm>
            <a:off x="8077597" y="1522413"/>
            <a:ext cx="3581003" cy="1501775"/>
          </a:xfrm>
          <a:prstGeom prst="roundRect">
            <a:avLst>
              <a:gd name="adj" fmla="val 6314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8077597" y="1522412"/>
            <a:ext cx="3581003" cy="25400"/>
          </a:xfrm>
          <a:custGeom>
            <a:avLst/>
            <a:gdLst/>
            <a:ahLst/>
            <a:cxnLst/>
            <a:rect l="l" t="t" r="r" b="b"/>
            <a:pathLst>
              <a:path w="2685752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663076" y="19050"/>
                </a:lnTo>
                <a:lnTo>
                  <a:pt x="2660383" y="16669"/>
                </a:lnTo>
                <a:lnTo>
                  <a:pt x="2657389" y="14288"/>
                </a:lnTo>
                <a:lnTo>
                  <a:pt x="2654025" y="11906"/>
                </a:lnTo>
                <a:lnTo>
                  <a:pt x="2650187" y="9525"/>
                </a:lnTo>
                <a:lnTo>
                  <a:pt x="2645698" y="7144"/>
                </a:lnTo>
                <a:lnTo>
                  <a:pt x="2640220" y="4763"/>
                </a:lnTo>
                <a:lnTo>
                  <a:pt x="2632882" y="2381"/>
                </a:lnTo>
                <a:lnTo>
                  <a:pt x="2614632" y="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248452" y="1757760"/>
            <a:ext cx="362347" cy="362347"/>
          </a:xfrm>
          <a:prstGeom prst="roundRect">
            <a:avLst>
              <a:gd name="adj" fmla="val 21030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1133" y="1850441"/>
            <a:ext cx="176784" cy="1767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48452" y="2196109"/>
            <a:ext cx="118564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3000" b="1" kern="0" spc="-4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250K+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8248453" y="2672755"/>
            <a:ext cx="1735991" cy="180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21"/>
              </a:lnSpc>
            </a:pPr>
            <a:r>
              <a:rPr lang="en-US" sz="1093" kern="0" spc="1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Incidents Per Year</a:t>
            </a:r>
            <a:endParaRPr lang="en-US" sz="1093" dirty="0"/>
          </a:p>
        </p:txBody>
      </p:sp>
      <p:sp>
        <p:nvSpPr>
          <p:cNvPr id="23" name="Text 18"/>
          <p:cNvSpPr/>
          <p:nvPr/>
        </p:nvSpPr>
        <p:spPr>
          <a:xfrm>
            <a:off x="533400" y="3176589"/>
            <a:ext cx="3580805" cy="1501775"/>
          </a:xfrm>
          <a:prstGeom prst="roundRect">
            <a:avLst>
              <a:gd name="adj" fmla="val 6314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533400" y="3176588"/>
            <a:ext cx="3580805" cy="25400"/>
          </a:xfrm>
          <a:custGeom>
            <a:avLst/>
            <a:gdLst/>
            <a:ahLst/>
            <a:cxnLst/>
            <a:rect l="l" t="t" r="r" b="b"/>
            <a:pathLst>
              <a:path w="2685604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662927" y="19050"/>
                </a:lnTo>
                <a:lnTo>
                  <a:pt x="2660234" y="16669"/>
                </a:lnTo>
                <a:lnTo>
                  <a:pt x="2657240" y="14288"/>
                </a:lnTo>
                <a:lnTo>
                  <a:pt x="2653876" y="11906"/>
                </a:lnTo>
                <a:lnTo>
                  <a:pt x="2650038" y="9525"/>
                </a:lnTo>
                <a:lnTo>
                  <a:pt x="2645549" y="7144"/>
                </a:lnTo>
                <a:lnTo>
                  <a:pt x="2640071" y="4763"/>
                </a:lnTo>
                <a:lnTo>
                  <a:pt x="2632733" y="2381"/>
                </a:lnTo>
                <a:lnTo>
                  <a:pt x="2614483" y="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704255" y="3411935"/>
            <a:ext cx="362347" cy="362347"/>
          </a:xfrm>
          <a:prstGeom prst="roundRect">
            <a:avLst>
              <a:gd name="adj" fmla="val 21030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937" y="3504616"/>
            <a:ext cx="176784" cy="1767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4255" y="3850283"/>
            <a:ext cx="145211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3000" b="1" kern="0" spc="-4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$100M+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704255" y="4326929"/>
            <a:ext cx="2051844" cy="180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21"/>
              </a:lnSpc>
            </a:pPr>
            <a:r>
              <a:rPr lang="en-US" sz="1093" kern="0" spc="1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Pothole Repair Spend</a:t>
            </a:r>
            <a:endParaRPr lang="en-US" sz="1093" dirty="0"/>
          </a:p>
        </p:txBody>
      </p:sp>
      <p:sp>
        <p:nvSpPr>
          <p:cNvPr id="29" name="Text 23"/>
          <p:cNvSpPr/>
          <p:nvPr/>
        </p:nvSpPr>
        <p:spPr>
          <a:xfrm>
            <a:off x="4305499" y="3176589"/>
            <a:ext cx="3580805" cy="1501775"/>
          </a:xfrm>
          <a:prstGeom prst="roundRect">
            <a:avLst>
              <a:gd name="adj" fmla="val 6314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4305499" y="3176588"/>
            <a:ext cx="3580805" cy="25400"/>
          </a:xfrm>
          <a:custGeom>
            <a:avLst/>
            <a:gdLst/>
            <a:ahLst/>
            <a:cxnLst/>
            <a:rect l="l" t="t" r="r" b="b"/>
            <a:pathLst>
              <a:path w="2685604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662927" y="19050"/>
                </a:lnTo>
                <a:lnTo>
                  <a:pt x="2660234" y="16669"/>
                </a:lnTo>
                <a:lnTo>
                  <a:pt x="2657240" y="14288"/>
                </a:lnTo>
                <a:lnTo>
                  <a:pt x="2653876" y="11906"/>
                </a:lnTo>
                <a:lnTo>
                  <a:pt x="2650038" y="9525"/>
                </a:lnTo>
                <a:lnTo>
                  <a:pt x="2645549" y="7144"/>
                </a:lnTo>
                <a:lnTo>
                  <a:pt x="2640071" y="4763"/>
                </a:lnTo>
                <a:lnTo>
                  <a:pt x="2632733" y="2381"/>
                </a:lnTo>
                <a:lnTo>
                  <a:pt x="2614483" y="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4476353" y="3411935"/>
            <a:ext cx="362347" cy="362347"/>
          </a:xfrm>
          <a:prstGeom prst="roundRect">
            <a:avLst>
              <a:gd name="adj" fmla="val 21030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69036" y="3504616"/>
            <a:ext cx="176784" cy="1767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476353" y="3850283"/>
            <a:ext cx="99815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3000" b="1" kern="0" spc="-4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$15M</a:t>
            </a:r>
            <a:endParaRPr lang="en-US" sz="3000" dirty="0"/>
          </a:p>
        </p:txBody>
      </p:sp>
      <p:sp>
        <p:nvSpPr>
          <p:cNvPr id="34" name="Text 27"/>
          <p:cNvSpPr/>
          <p:nvPr/>
        </p:nvSpPr>
        <p:spPr>
          <a:xfrm>
            <a:off x="4476354" y="4326929"/>
            <a:ext cx="2058173" cy="180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21"/>
              </a:lnSpc>
            </a:pPr>
            <a:r>
              <a:rPr lang="en-US" sz="1093" kern="0" spc="1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Per 1% Improvement</a:t>
            </a:r>
            <a:endParaRPr lang="en-US" sz="1093" dirty="0"/>
          </a:p>
        </p:txBody>
      </p:sp>
      <p:sp>
        <p:nvSpPr>
          <p:cNvPr id="35" name="Text 28"/>
          <p:cNvSpPr/>
          <p:nvPr/>
        </p:nvSpPr>
        <p:spPr>
          <a:xfrm>
            <a:off x="533400" y="4906963"/>
            <a:ext cx="11347704" cy="467717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267547" tIns="123613" rIns="267547" bIns="123613" rtlCol="0" anchor="t"/>
          <a:lstStyle/>
          <a:p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Haven generates massive operational data but lacks the intelligence to convert it into faster decisions.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33401" y="4906963"/>
            <a:ext cx="38100" cy="467717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7" name="Text 30"/>
          <p:cNvSpPr/>
          <p:nvPr/>
        </p:nvSpPr>
        <p:spPr>
          <a:xfrm>
            <a:off x="533400" y="6057702"/>
            <a:ext cx="11125200" cy="456605"/>
          </a:xfrm>
          <a:prstGeom prst="roundRect">
            <a:avLst>
              <a:gd name="adj" fmla="val 14463"/>
            </a:avLst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8" name="Text 31"/>
          <p:cNvSpPr/>
          <p:nvPr/>
        </p:nvSpPr>
        <p:spPr>
          <a:xfrm>
            <a:off x="838200" y="6181129"/>
            <a:ext cx="1539875" cy="230723"/>
          </a:xfrm>
          <a:prstGeom prst="roundRect">
            <a:avLst>
              <a:gd name="adj" fmla="val 16880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algn="ctr"/>
            <a:r>
              <a:rPr lang="en-US" sz="82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827" dirty="0"/>
          </a:p>
        </p:txBody>
      </p:sp>
      <p:sp>
        <p:nvSpPr>
          <p:cNvPr id="39" name="Text 32"/>
          <p:cNvSpPr/>
          <p:nvPr/>
        </p:nvSpPr>
        <p:spPr>
          <a:xfrm>
            <a:off x="2493170" y="6185298"/>
            <a:ext cx="5433457" cy="20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5"/>
              </a:lnSpc>
            </a:pPr>
            <a:r>
              <a:rPr lang="en-US" sz="109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both an efficiency opportunity and a strategic city modernization program.</a:t>
            </a:r>
            <a:endParaRPr lang="en-US" sz="109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6094"/>
            <a:ext cx="1207008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b="1" kern="0" spc="116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ASSESSMENT</a:t>
            </a:r>
            <a:endParaRPr lang="en-US" sz="827" dirty="0"/>
          </a:p>
        </p:txBody>
      </p:sp>
      <p:sp>
        <p:nvSpPr>
          <p:cNvPr id="3" name="Text 1"/>
          <p:cNvSpPr/>
          <p:nvPr/>
        </p:nvSpPr>
        <p:spPr>
          <a:xfrm>
            <a:off x="609600" y="748109"/>
            <a:ext cx="11740896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29"/>
              </a:lnSpc>
              <a:spcAft>
                <a:spcPts val="453"/>
              </a:spcAft>
            </a:pPr>
            <a:r>
              <a:rPr lang="en-US" sz="2547" kern="0" spc="-25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Data-Rich. Insight-Poor. </a:t>
            </a:r>
            <a:r>
              <a:rPr lang="en-US" sz="2547" kern="0" spc="-25" dirty="0">
                <a:solidFill>
                  <a:srgbClr val="C039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Operationally Constrained.</a:t>
            </a:r>
            <a:endParaRPr lang="en-US" sz="2547" dirty="0"/>
          </a:p>
        </p:txBody>
      </p:sp>
      <p:sp>
        <p:nvSpPr>
          <p:cNvPr id="4" name="Text 2"/>
          <p:cNvSpPr/>
          <p:nvPr/>
        </p:nvSpPr>
        <p:spPr>
          <a:xfrm>
            <a:off x="609600" y="1177529"/>
            <a:ext cx="6995160" cy="421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80"/>
              </a:lnSpc>
              <a:spcAft>
                <a:spcPts val="2400"/>
              </a:spcAft>
            </a:pPr>
            <a:r>
              <a:rPr lang="en-US" sz="105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Haven's operational systems generate vast data — but the absence of intelligence layers means critical decisions are slow, manual, and reactive.</a:t>
            </a:r>
            <a:endParaRPr lang="en-US" sz="1053" dirty="0"/>
          </a:p>
        </p:txBody>
      </p:sp>
      <p:sp>
        <p:nvSpPr>
          <p:cNvPr id="5" name="Text 3"/>
          <p:cNvSpPr/>
          <p:nvPr/>
        </p:nvSpPr>
        <p:spPr>
          <a:xfrm>
            <a:off x="609601" y="1883570"/>
            <a:ext cx="5390753" cy="1788517"/>
          </a:xfrm>
          <a:prstGeom prst="roundRect">
            <a:avLst>
              <a:gd name="adj" fmla="val 4261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1" y="1883569"/>
            <a:ext cx="5390753" cy="25400"/>
          </a:xfrm>
          <a:custGeom>
            <a:avLst/>
            <a:gdLst/>
            <a:ahLst/>
            <a:cxnLst/>
            <a:rect l="l" t="t" r="r" b="b"/>
            <a:pathLst>
              <a:path w="4043065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4028512" y="19050"/>
                </a:lnTo>
                <a:lnTo>
                  <a:pt x="4026256" y="16669"/>
                </a:lnTo>
                <a:lnTo>
                  <a:pt x="4023716" y="14288"/>
                </a:lnTo>
                <a:lnTo>
                  <a:pt x="4020831" y="11906"/>
                </a:lnTo>
                <a:lnTo>
                  <a:pt x="4017506" y="9525"/>
                </a:lnTo>
                <a:lnTo>
                  <a:pt x="4013582" y="7144"/>
                </a:lnTo>
                <a:lnTo>
                  <a:pt x="4008755" y="4763"/>
                </a:lnTo>
                <a:lnTo>
                  <a:pt x="4002240" y="2381"/>
                </a:lnTo>
                <a:lnTo>
                  <a:pt x="3985915" y="0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77094" y="2176463"/>
            <a:ext cx="419893" cy="419893"/>
          </a:xfrm>
          <a:prstGeom prst="roundRect">
            <a:avLst>
              <a:gd name="adj" fmla="val 22584"/>
            </a:avLst>
          </a:prstGeom>
          <a:solidFill>
            <a:srgbClr val="C0392B">
              <a:alpha val="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648" y="2298017"/>
            <a:ext cx="176784" cy="1767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0735" y="2264570"/>
            <a:ext cx="1974572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920"/>
              </a:lnSpc>
            </a:pPr>
            <a:r>
              <a:rPr lang="en-US" sz="128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Complaint Routing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1029494" y="2730104"/>
            <a:ext cx="5173703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27"/>
              </a:lnSpc>
            </a:pPr>
            <a:r>
              <a:rPr lang="en-US" sz="105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complaint categories to navigate</a:t>
            </a:r>
            <a:endParaRPr lang="en-US" sz="1053" dirty="0"/>
          </a:p>
        </p:txBody>
      </p:sp>
      <p:sp>
        <p:nvSpPr>
          <p:cNvPr id="11" name="Text 8"/>
          <p:cNvSpPr/>
          <p:nvPr/>
        </p:nvSpPr>
        <p:spPr>
          <a:xfrm>
            <a:off x="1029494" y="2989858"/>
            <a:ext cx="5173703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27"/>
              </a:lnSpc>
            </a:pPr>
            <a:r>
              <a:rPr lang="en-US" sz="105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min average manual classification</a:t>
            </a:r>
            <a:endParaRPr lang="en-US" sz="1053" dirty="0"/>
          </a:p>
        </p:txBody>
      </p:sp>
      <p:sp>
        <p:nvSpPr>
          <p:cNvPr id="12" name="Text 9"/>
          <p:cNvSpPr/>
          <p:nvPr/>
        </p:nvSpPr>
        <p:spPr>
          <a:xfrm>
            <a:off x="1029494" y="3249613"/>
            <a:ext cx="5173703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27"/>
              </a:lnSpc>
            </a:pPr>
            <a:r>
              <a:rPr lang="en-US" sz="105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Misroutes add 2–5 days of delay</a:t>
            </a:r>
            <a:endParaRPr lang="en-US" sz="1053" dirty="0"/>
          </a:p>
        </p:txBody>
      </p:sp>
      <p:sp>
        <p:nvSpPr>
          <p:cNvPr id="13" name="Text 10"/>
          <p:cNvSpPr/>
          <p:nvPr/>
        </p:nvSpPr>
        <p:spPr>
          <a:xfrm>
            <a:off x="6191648" y="1883570"/>
            <a:ext cx="5390753" cy="1788517"/>
          </a:xfrm>
          <a:prstGeom prst="roundRect">
            <a:avLst>
              <a:gd name="adj" fmla="val 4261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191648" y="1883569"/>
            <a:ext cx="5390753" cy="25400"/>
          </a:xfrm>
          <a:custGeom>
            <a:avLst/>
            <a:gdLst/>
            <a:ahLst/>
            <a:cxnLst/>
            <a:rect l="l" t="t" r="r" b="b"/>
            <a:pathLst>
              <a:path w="4043065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4028512" y="19050"/>
                </a:lnTo>
                <a:lnTo>
                  <a:pt x="4026256" y="16669"/>
                </a:lnTo>
                <a:lnTo>
                  <a:pt x="4023716" y="14288"/>
                </a:lnTo>
                <a:lnTo>
                  <a:pt x="4020831" y="11906"/>
                </a:lnTo>
                <a:lnTo>
                  <a:pt x="4017506" y="9525"/>
                </a:lnTo>
                <a:lnTo>
                  <a:pt x="4013582" y="7144"/>
                </a:lnTo>
                <a:lnTo>
                  <a:pt x="4008755" y="4763"/>
                </a:lnTo>
                <a:lnTo>
                  <a:pt x="4002240" y="2381"/>
                </a:lnTo>
                <a:lnTo>
                  <a:pt x="3985915" y="0"/>
                </a:lnTo>
                <a:close/>
              </a:path>
            </a:pathLst>
          </a:custGeom>
          <a:solidFill>
            <a:srgbClr val="D4760A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459140" y="2176463"/>
            <a:ext cx="419893" cy="419893"/>
          </a:xfrm>
          <a:prstGeom prst="roundRect">
            <a:avLst>
              <a:gd name="adj" fmla="val 22584"/>
            </a:avLst>
          </a:prstGeom>
          <a:solidFill>
            <a:srgbClr val="D4760A">
              <a:alpha val="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0696" y="2298017"/>
            <a:ext cx="176784" cy="1767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12782" y="2264570"/>
            <a:ext cx="1608077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920"/>
              </a:lnSpc>
            </a:pPr>
            <a:r>
              <a:rPr lang="en-US" sz="128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Maintenance</a:t>
            </a:r>
            <a:endParaRPr lang="en-US" sz="1280" dirty="0"/>
          </a:p>
        </p:txBody>
      </p:sp>
      <p:sp>
        <p:nvSpPr>
          <p:cNvPr id="18" name="Text 14"/>
          <p:cNvSpPr/>
          <p:nvPr/>
        </p:nvSpPr>
        <p:spPr>
          <a:xfrm>
            <a:off x="6611541" y="2730104"/>
            <a:ext cx="5173703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27"/>
              </a:lnSpc>
            </a:pPr>
            <a:r>
              <a:rPr lang="en-US" sz="105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pothole response only</a:t>
            </a:r>
            <a:endParaRPr lang="en-US" sz="1053" dirty="0"/>
          </a:p>
        </p:txBody>
      </p:sp>
      <p:sp>
        <p:nvSpPr>
          <p:cNvPr id="19" name="Text 15"/>
          <p:cNvSpPr/>
          <p:nvPr/>
        </p:nvSpPr>
        <p:spPr>
          <a:xfrm>
            <a:off x="6611541" y="2989858"/>
            <a:ext cx="5173703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27"/>
              </a:lnSpc>
            </a:pPr>
            <a:r>
              <a:rPr lang="en-US" sz="105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prioritization intelligence</a:t>
            </a:r>
            <a:endParaRPr lang="en-US" sz="1053" dirty="0"/>
          </a:p>
        </p:txBody>
      </p:sp>
      <p:sp>
        <p:nvSpPr>
          <p:cNvPr id="20" name="Text 16"/>
          <p:cNvSpPr/>
          <p:nvPr/>
        </p:nvSpPr>
        <p:spPr>
          <a:xfrm>
            <a:off x="6611541" y="3249613"/>
            <a:ext cx="5173703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27"/>
              </a:lnSpc>
            </a:pPr>
            <a:r>
              <a:rPr lang="en-US" sz="105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act as the detection system</a:t>
            </a:r>
            <a:endParaRPr lang="en-US" sz="1053" dirty="0"/>
          </a:p>
        </p:txBody>
      </p:sp>
      <p:sp>
        <p:nvSpPr>
          <p:cNvPr id="21" name="Text 17"/>
          <p:cNvSpPr/>
          <p:nvPr/>
        </p:nvSpPr>
        <p:spPr>
          <a:xfrm>
            <a:off x="609601" y="3863381"/>
            <a:ext cx="5390753" cy="1765300"/>
          </a:xfrm>
          <a:prstGeom prst="roundRect">
            <a:avLst>
              <a:gd name="adj" fmla="val 43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09601" y="3863380"/>
            <a:ext cx="5390753" cy="25400"/>
          </a:xfrm>
          <a:custGeom>
            <a:avLst/>
            <a:gdLst/>
            <a:ahLst/>
            <a:cxnLst/>
            <a:rect l="l" t="t" r="r" b="b"/>
            <a:pathLst>
              <a:path w="4043065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4028512" y="19050"/>
                </a:lnTo>
                <a:lnTo>
                  <a:pt x="4026256" y="16669"/>
                </a:lnTo>
                <a:lnTo>
                  <a:pt x="4023716" y="14288"/>
                </a:lnTo>
                <a:lnTo>
                  <a:pt x="4020831" y="11906"/>
                </a:lnTo>
                <a:lnTo>
                  <a:pt x="4017506" y="9525"/>
                </a:lnTo>
                <a:lnTo>
                  <a:pt x="4013582" y="7144"/>
                </a:lnTo>
                <a:lnTo>
                  <a:pt x="4008755" y="4763"/>
                </a:lnTo>
                <a:lnTo>
                  <a:pt x="4002240" y="2381"/>
                </a:lnTo>
                <a:lnTo>
                  <a:pt x="3985915" y="0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877094" y="4156274"/>
            <a:ext cx="419893" cy="419893"/>
          </a:xfrm>
          <a:prstGeom prst="roundRect">
            <a:avLst>
              <a:gd name="adj" fmla="val 22584"/>
            </a:avLst>
          </a:prstGeom>
          <a:solidFill>
            <a:srgbClr val="C0392B">
              <a:alpha val="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8648" y="4277828"/>
            <a:ext cx="176784" cy="1767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30735" y="4244381"/>
            <a:ext cx="1147941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920"/>
              </a:lnSpc>
            </a:pPr>
            <a:r>
              <a:rPr lang="en-US" sz="128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Safety</a:t>
            </a:r>
            <a:endParaRPr lang="en-US" sz="1280" dirty="0"/>
          </a:p>
        </p:txBody>
      </p:sp>
      <p:sp>
        <p:nvSpPr>
          <p:cNvPr id="26" name="Text 21"/>
          <p:cNvSpPr/>
          <p:nvPr/>
        </p:nvSpPr>
        <p:spPr>
          <a:xfrm>
            <a:off x="1029494" y="4709916"/>
            <a:ext cx="5173703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27"/>
              </a:lnSpc>
            </a:pPr>
            <a:r>
              <a:rPr lang="en-US" sz="105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prediction absent</a:t>
            </a:r>
            <a:endParaRPr lang="en-US" sz="1053" dirty="0"/>
          </a:p>
        </p:txBody>
      </p:sp>
      <p:sp>
        <p:nvSpPr>
          <p:cNvPr id="27" name="Text 22"/>
          <p:cNvSpPr/>
          <p:nvPr/>
        </p:nvSpPr>
        <p:spPr>
          <a:xfrm>
            <a:off x="1029494" y="4969670"/>
            <a:ext cx="5173703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27"/>
              </a:lnSpc>
            </a:pPr>
            <a:r>
              <a:rPr lang="en-US" sz="105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preventive intervention</a:t>
            </a:r>
            <a:endParaRPr lang="en-US" sz="1053" dirty="0"/>
          </a:p>
        </p:txBody>
      </p:sp>
      <p:sp>
        <p:nvSpPr>
          <p:cNvPr id="28" name="Text 23"/>
          <p:cNvSpPr/>
          <p:nvPr/>
        </p:nvSpPr>
        <p:spPr>
          <a:xfrm>
            <a:off x="6191648" y="3863381"/>
            <a:ext cx="5390753" cy="1765300"/>
          </a:xfrm>
          <a:prstGeom prst="roundRect">
            <a:avLst>
              <a:gd name="adj" fmla="val 43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6191648" y="3863380"/>
            <a:ext cx="5390753" cy="25400"/>
          </a:xfrm>
          <a:custGeom>
            <a:avLst/>
            <a:gdLst/>
            <a:ahLst/>
            <a:cxnLst/>
            <a:rect l="l" t="t" r="r" b="b"/>
            <a:pathLst>
              <a:path w="4043065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4028512" y="19050"/>
                </a:lnTo>
                <a:lnTo>
                  <a:pt x="4026256" y="16669"/>
                </a:lnTo>
                <a:lnTo>
                  <a:pt x="4023716" y="14288"/>
                </a:lnTo>
                <a:lnTo>
                  <a:pt x="4020831" y="11906"/>
                </a:lnTo>
                <a:lnTo>
                  <a:pt x="4017506" y="9525"/>
                </a:lnTo>
                <a:lnTo>
                  <a:pt x="4013582" y="7144"/>
                </a:lnTo>
                <a:lnTo>
                  <a:pt x="4008755" y="4763"/>
                </a:lnTo>
                <a:lnTo>
                  <a:pt x="4002240" y="2381"/>
                </a:lnTo>
                <a:lnTo>
                  <a:pt x="3985915" y="0"/>
                </a:lnTo>
                <a:close/>
              </a:path>
            </a:pathLst>
          </a:custGeom>
          <a:solidFill>
            <a:srgbClr val="D4760A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6459140" y="4156274"/>
            <a:ext cx="419893" cy="419893"/>
          </a:xfrm>
          <a:prstGeom prst="roundRect">
            <a:avLst>
              <a:gd name="adj" fmla="val 22584"/>
            </a:avLst>
          </a:prstGeom>
          <a:solidFill>
            <a:srgbClr val="D4760A">
              <a:alpha val="7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0696" y="4277828"/>
            <a:ext cx="176784" cy="1767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12781" y="4244381"/>
            <a:ext cx="1756072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920"/>
              </a:lnSpc>
            </a:pPr>
            <a:r>
              <a:rPr lang="en-US" sz="128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280" dirty="0"/>
          </a:p>
        </p:txBody>
      </p:sp>
      <p:sp>
        <p:nvSpPr>
          <p:cNvPr id="33" name="Text 27"/>
          <p:cNvSpPr/>
          <p:nvPr/>
        </p:nvSpPr>
        <p:spPr>
          <a:xfrm>
            <a:off x="6611541" y="4709916"/>
            <a:ext cx="5173703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27"/>
              </a:lnSpc>
            </a:pPr>
            <a:r>
              <a:rPr lang="en-US" sz="105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by intuition, not data</a:t>
            </a:r>
            <a:endParaRPr lang="en-US" sz="1053" dirty="0"/>
          </a:p>
        </p:txBody>
      </p:sp>
      <p:sp>
        <p:nvSpPr>
          <p:cNvPr id="34" name="Text 28"/>
          <p:cNvSpPr/>
          <p:nvPr/>
        </p:nvSpPr>
        <p:spPr>
          <a:xfrm>
            <a:off x="6611541" y="4969670"/>
            <a:ext cx="5173703" cy="19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27"/>
              </a:lnSpc>
            </a:pPr>
            <a:r>
              <a:rPr lang="en-US" sz="105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optimization support</a:t>
            </a:r>
            <a:endParaRPr lang="en-US" sz="1053" dirty="0"/>
          </a:p>
        </p:txBody>
      </p:sp>
      <p:sp>
        <p:nvSpPr>
          <p:cNvPr id="35" name="Text 29"/>
          <p:cNvSpPr/>
          <p:nvPr/>
        </p:nvSpPr>
        <p:spPr>
          <a:xfrm>
            <a:off x="609600" y="5857280"/>
            <a:ext cx="12070080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747" b="1" kern="0" spc="89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747" dirty="0"/>
          </a:p>
        </p:txBody>
      </p:sp>
      <p:sp>
        <p:nvSpPr>
          <p:cNvPr id="36" name="Text 30"/>
          <p:cNvSpPr/>
          <p:nvPr/>
        </p:nvSpPr>
        <p:spPr>
          <a:xfrm>
            <a:off x="609600" y="6038454"/>
            <a:ext cx="11192256" cy="475853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267547" tIns="133773" rIns="267547" bIns="133773" rtlCol="0" anchor="t"/>
          <a:lstStyle/>
          <a:p>
            <a:r>
              <a:rPr lang="en-US" sz="109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operating model cannot scale — every delay compounds cost and erodes public trust.</a:t>
            </a:r>
            <a:endParaRPr lang="en-US" sz="1093" dirty="0"/>
          </a:p>
        </p:txBody>
      </p:sp>
      <p:sp>
        <p:nvSpPr>
          <p:cNvPr id="37" name="Text 31"/>
          <p:cNvSpPr/>
          <p:nvPr/>
        </p:nvSpPr>
        <p:spPr>
          <a:xfrm>
            <a:off x="609601" y="6038454"/>
            <a:ext cx="38100" cy="475853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8" name="Text 32"/>
          <p:cNvSpPr/>
          <p:nvPr/>
        </p:nvSpPr>
        <p:spPr>
          <a:xfrm>
            <a:off x="877094" y="2796143"/>
            <a:ext cx="47228" cy="47228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9" name="Text 33"/>
          <p:cNvSpPr/>
          <p:nvPr/>
        </p:nvSpPr>
        <p:spPr>
          <a:xfrm>
            <a:off x="877094" y="3055898"/>
            <a:ext cx="47228" cy="47228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0" name="Text 34"/>
          <p:cNvSpPr/>
          <p:nvPr/>
        </p:nvSpPr>
        <p:spPr>
          <a:xfrm>
            <a:off x="877094" y="3315653"/>
            <a:ext cx="47228" cy="47228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1" name="Text 35"/>
          <p:cNvSpPr/>
          <p:nvPr/>
        </p:nvSpPr>
        <p:spPr>
          <a:xfrm>
            <a:off x="6459141" y="2796143"/>
            <a:ext cx="47228" cy="47228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2" name="Text 36"/>
          <p:cNvSpPr/>
          <p:nvPr/>
        </p:nvSpPr>
        <p:spPr>
          <a:xfrm>
            <a:off x="6459141" y="3055898"/>
            <a:ext cx="47228" cy="47228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3" name="Text 37"/>
          <p:cNvSpPr/>
          <p:nvPr/>
        </p:nvSpPr>
        <p:spPr>
          <a:xfrm>
            <a:off x="6459141" y="3315653"/>
            <a:ext cx="47228" cy="47228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4" name="Text 38"/>
          <p:cNvSpPr/>
          <p:nvPr/>
        </p:nvSpPr>
        <p:spPr>
          <a:xfrm>
            <a:off x="877094" y="4775955"/>
            <a:ext cx="47228" cy="47228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5" name="Text 39"/>
          <p:cNvSpPr/>
          <p:nvPr/>
        </p:nvSpPr>
        <p:spPr>
          <a:xfrm>
            <a:off x="877094" y="5035710"/>
            <a:ext cx="47228" cy="47228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6" name="Text 40"/>
          <p:cNvSpPr/>
          <p:nvPr/>
        </p:nvSpPr>
        <p:spPr>
          <a:xfrm>
            <a:off x="6459141" y="4775955"/>
            <a:ext cx="47228" cy="47228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7" name="Text 41"/>
          <p:cNvSpPr/>
          <p:nvPr/>
        </p:nvSpPr>
        <p:spPr>
          <a:xfrm>
            <a:off x="6459141" y="5035710"/>
            <a:ext cx="47228" cy="47228"/>
          </a:xfrm>
          <a:prstGeom prst="ellipse">
            <a:avLst/>
          </a:prstGeom>
          <a:solidFill>
            <a:srgbClr val="6B7B8D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74089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00"/>
              </a:lnSpc>
              <a:spcAft>
                <a:spcPts val="453"/>
              </a:spcAft>
            </a:pPr>
            <a:r>
              <a:rPr lang="en-US" sz="2400" kern="0" spc="-24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Reactive City to Predictive City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971947"/>
            <a:ext cx="533400" cy="28773"/>
          </a:xfrm>
          <a:prstGeom prst="roundRect">
            <a:avLst>
              <a:gd name="adj" fmla="val 64736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3681" y="1305520"/>
            <a:ext cx="5401819" cy="279995"/>
          </a:xfrm>
          <a:prstGeom prst="rect">
            <a:avLst/>
          </a:prstGeom>
          <a:noFill/>
          <a:ln/>
        </p:spPr>
        <p:txBody>
          <a:bodyPr wrap="none" lIns="0" tIns="0" rIns="152400" bIns="94827" rtlCol="0" anchor="t"/>
          <a:lstStyle/>
          <a:p>
            <a:pPr algn="r"/>
            <a:r>
              <a:rPr lang="en-US" sz="907" b="1" kern="0" spc="12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7" dirty="0"/>
          </a:p>
        </p:txBody>
      </p:sp>
      <p:sp>
        <p:nvSpPr>
          <p:cNvPr id="5" name="Text 3"/>
          <p:cNvSpPr/>
          <p:nvPr/>
        </p:nvSpPr>
        <p:spPr>
          <a:xfrm>
            <a:off x="609601" y="1572817"/>
            <a:ext cx="5295900" cy="12700"/>
          </a:xfrm>
          <a:prstGeom prst="rect">
            <a:avLst/>
          </a:prstGeom>
          <a:solidFill>
            <a:srgbClr val="D1D8E0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86500" y="1305520"/>
            <a:ext cx="5401819" cy="279995"/>
          </a:xfrm>
          <a:prstGeom prst="rect">
            <a:avLst/>
          </a:prstGeom>
          <a:noFill/>
          <a:ln/>
        </p:spPr>
        <p:txBody>
          <a:bodyPr wrap="none" lIns="152400" tIns="0" rIns="0" bIns="94827" rtlCol="0" anchor="t"/>
          <a:lstStyle/>
          <a:p>
            <a:r>
              <a:rPr lang="en-US" sz="907" b="1" kern="0" spc="12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</a:t>
            </a:r>
            <a:endParaRPr lang="en-US" sz="907" dirty="0"/>
          </a:p>
        </p:txBody>
      </p:sp>
      <p:sp>
        <p:nvSpPr>
          <p:cNvPr id="7" name="Text 5"/>
          <p:cNvSpPr/>
          <p:nvPr/>
        </p:nvSpPr>
        <p:spPr>
          <a:xfrm>
            <a:off x="6286501" y="1572817"/>
            <a:ext cx="5295900" cy="12700"/>
          </a:xfrm>
          <a:prstGeom prst="rect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600" y="2047677"/>
            <a:ext cx="10972800" cy="12700"/>
          </a:xfrm>
          <a:prstGeom prst="rect">
            <a:avLst/>
          </a:prstGeom>
          <a:solidFill>
            <a:srgbClr val="E8ECF1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207233" y="1729383"/>
            <a:ext cx="1545868" cy="213320"/>
          </a:xfrm>
          <a:prstGeom prst="rect">
            <a:avLst/>
          </a:prstGeom>
          <a:noFill/>
          <a:ln/>
        </p:spPr>
        <p:txBody>
          <a:bodyPr wrap="none" lIns="0" tIns="0" rIns="152400" bIns="0" rtlCol="0" anchor="t"/>
          <a:lstStyle/>
          <a:p>
            <a:pPr algn="r">
              <a:lnSpc>
                <a:spcPts val="1680"/>
              </a:lnSpc>
            </a:pPr>
            <a:r>
              <a:rPr lang="en-US" sz="112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response</a:t>
            </a:r>
            <a:endParaRPr lang="en-US" sz="112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7732" y="1747651"/>
            <a:ext cx="176784" cy="176784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7509" y="1747651"/>
            <a:ext cx="176784" cy="1767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4638" y="1729383"/>
            <a:ext cx="1250533" cy="213320"/>
          </a:xfrm>
          <a:prstGeom prst="rect">
            <a:avLst/>
          </a:prstGeom>
          <a:noFill/>
          <a:ln/>
        </p:spPr>
        <p:txBody>
          <a:bodyPr wrap="none" lIns="15240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2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triage</a:t>
            </a:r>
            <a:endParaRPr lang="en-US" sz="112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4603" y="1747651"/>
            <a:ext cx="176784" cy="1767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9600" y="2483645"/>
            <a:ext cx="10972800" cy="12700"/>
          </a:xfrm>
          <a:prstGeom prst="rect">
            <a:avLst/>
          </a:prstGeom>
          <a:solidFill>
            <a:srgbClr val="E8ECF1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4485105" y="2165351"/>
            <a:ext cx="1267996" cy="213320"/>
          </a:xfrm>
          <a:prstGeom prst="rect">
            <a:avLst/>
          </a:prstGeom>
          <a:noFill/>
          <a:ln/>
        </p:spPr>
        <p:txBody>
          <a:bodyPr wrap="none" lIns="0" tIns="0" rIns="152400" bIns="0" rtlCol="0" anchor="t"/>
          <a:lstStyle/>
          <a:p>
            <a:pPr algn="r">
              <a:lnSpc>
                <a:spcPts val="1680"/>
              </a:lnSpc>
            </a:pPr>
            <a:r>
              <a:rPr lang="en-US" sz="112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dispatch</a:t>
            </a:r>
            <a:endParaRPr lang="en-US" sz="112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0343" y="2183619"/>
            <a:ext cx="176784" cy="176784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7509" y="2183619"/>
            <a:ext cx="176784" cy="1767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24637" y="2165351"/>
            <a:ext cx="1453099" cy="213320"/>
          </a:xfrm>
          <a:prstGeom prst="rect">
            <a:avLst/>
          </a:prstGeom>
          <a:noFill/>
          <a:ln/>
        </p:spPr>
        <p:txBody>
          <a:bodyPr wrap="none" lIns="15240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2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routing</a:t>
            </a:r>
            <a:endParaRPr lang="en-US" sz="112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4603" y="2183619"/>
            <a:ext cx="176784" cy="17678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9600" y="2919611"/>
            <a:ext cx="10972800" cy="12700"/>
          </a:xfrm>
          <a:prstGeom prst="rect">
            <a:avLst/>
          </a:prstGeom>
          <a:solidFill>
            <a:srgbClr val="E8ECF1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1" name="Text 13"/>
          <p:cNvSpPr/>
          <p:nvPr/>
        </p:nvSpPr>
        <p:spPr>
          <a:xfrm>
            <a:off x="4198719" y="2601317"/>
            <a:ext cx="1554381" cy="213320"/>
          </a:xfrm>
          <a:prstGeom prst="rect">
            <a:avLst/>
          </a:prstGeom>
          <a:noFill/>
          <a:ln/>
        </p:spPr>
        <p:txBody>
          <a:bodyPr wrap="none" lIns="0" tIns="0" rIns="152400" bIns="0" rtlCol="0" anchor="t"/>
          <a:lstStyle/>
          <a:p>
            <a:pPr algn="r">
              <a:lnSpc>
                <a:spcPts val="1680"/>
              </a:lnSpc>
            </a:pPr>
            <a:r>
              <a:rPr lang="en-US" sz="112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Gut-feel deployment</a:t>
            </a:r>
            <a:endParaRPr lang="en-US" sz="112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9992" y="2619585"/>
            <a:ext cx="176784" cy="176784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07509" y="2619585"/>
            <a:ext cx="176784" cy="17678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624638" y="2601317"/>
            <a:ext cx="2301557" cy="213320"/>
          </a:xfrm>
          <a:prstGeom prst="rect">
            <a:avLst/>
          </a:prstGeom>
          <a:noFill/>
          <a:ln/>
        </p:spPr>
        <p:txBody>
          <a:bodyPr wrap="none" lIns="15240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2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Optimization-driven resources</a:t>
            </a:r>
            <a:endParaRPr lang="en-US" sz="112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4603" y="2619585"/>
            <a:ext cx="176784" cy="17678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09600" y="3355579"/>
            <a:ext cx="10972800" cy="12700"/>
          </a:xfrm>
          <a:prstGeom prst="rect">
            <a:avLst/>
          </a:prstGeom>
          <a:solidFill>
            <a:srgbClr val="E8ECF1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7" name="Text 16"/>
          <p:cNvSpPr/>
          <p:nvPr/>
        </p:nvSpPr>
        <p:spPr>
          <a:xfrm>
            <a:off x="4501913" y="3037284"/>
            <a:ext cx="1251188" cy="213320"/>
          </a:xfrm>
          <a:prstGeom prst="rect">
            <a:avLst/>
          </a:prstGeom>
          <a:noFill/>
          <a:ln/>
        </p:spPr>
        <p:txBody>
          <a:bodyPr wrap="none" lIns="0" tIns="0" rIns="152400" bIns="0" rtlCol="0" anchor="t"/>
          <a:lstStyle/>
          <a:p>
            <a:pPr algn="r">
              <a:lnSpc>
                <a:spcPts val="1680"/>
              </a:lnSpc>
            </a:pPr>
            <a:r>
              <a:rPr lang="en-US" sz="112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repairs</a:t>
            </a:r>
            <a:endParaRPr lang="en-US" sz="112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05623" y="3055552"/>
            <a:ext cx="176784" cy="176784"/>
          </a:xfrm>
          <a:prstGeom prst="rect">
            <a:avLst/>
          </a:prstGeom>
        </p:spPr>
      </p:pic>
      <p:pic>
        <p:nvPicPr>
          <p:cNvPr id="2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07509" y="3055552"/>
            <a:ext cx="176784" cy="176784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6624638" y="3037284"/>
            <a:ext cx="1789469" cy="213320"/>
          </a:xfrm>
          <a:prstGeom prst="rect">
            <a:avLst/>
          </a:prstGeom>
          <a:noFill/>
          <a:ln/>
        </p:spPr>
        <p:txBody>
          <a:bodyPr wrap="none" lIns="15240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2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12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4603" y="3055552"/>
            <a:ext cx="176784" cy="176784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4450398" y="3473252"/>
            <a:ext cx="1302703" cy="213320"/>
          </a:xfrm>
          <a:prstGeom prst="rect">
            <a:avLst/>
          </a:prstGeom>
          <a:noFill/>
          <a:ln/>
        </p:spPr>
        <p:txBody>
          <a:bodyPr wrap="none" lIns="0" tIns="0" rIns="152400" bIns="0" rtlCol="0" anchor="t"/>
          <a:lstStyle/>
          <a:p>
            <a:pPr algn="r">
              <a:lnSpc>
                <a:spcPts val="1680"/>
              </a:lnSpc>
            </a:pPr>
            <a:r>
              <a:rPr lang="en-US" sz="112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12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58791" y="3491520"/>
            <a:ext cx="176784" cy="176784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07509" y="3491520"/>
            <a:ext cx="176784" cy="176784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624638" y="3473252"/>
            <a:ext cx="2066905" cy="213320"/>
          </a:xfrm>
          <a:prstGeom prst="rect">
            <a:avLst/>
          </a:prstGeom>
          <a:noFill/>
          <a:ln/>
        </p:spPr>
        <p:txBody>
          <a:bodyPr wrap="none" lIns="15240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2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intelligence platform</a:t>
            </a:r>
            <a:endParaRPr lang="en-US" sz="1120" dirty="0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14603" y="3491520"/>
            <a:ext cx="176784" cy="176784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3708400" y="5537002"/>
            <a:ext cx="912416" cy="330477"/>
          </a:xfrm>
          <a:prstGeom prst="roundRect">
            <a:avLst>
              <a:gd name="adj" fmla="val 57900"/>
            </a:avLst>
          </a:prstGeom>
          <a:solidFill>
            <a:srgbClr val="E8ECF1"/>
          </a:solidFill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73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</a:t>
            </a:r>
            <a:endParaRPr lang="en-US" sz="973" dirty="0"/>
          </a:p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1705" y="5598728"/>
            <a:ext cx="176784" cy="176784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4879381" y="5537002"/>
            <a:ext cx="974129" cy="330477"/>
          </a:xfrm>
          <a:prstGeom prst="roundRect">
            <a:avLst>
              <a:gd name="adj" fmla="val 57900"/>
            </a:avLst>
          </a:prstGeom>
          <a:solidFill>
            <a:srgbClr val="D6E2F0"/>
          </a:solidFill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73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973" dirty="0"/>
          </a:p>
        </p:txBody>
      </p:sp>
      <p:pic>
        <p:nvPicPr>
          <p:cNvPr id="40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94400" y="5598728"/>
            <a:ext cx="176784" cy="176784"/>
          </a:xfrm>
          <a:prstGeom prst="rect">
            <a:avLst/>
          </a:prstGeom>
        </p:spPr>
      </p:pic>
      <p:sp>
        <p:nvSpPr>
          <p:cNvPr id="41" name="Text 22"/>
          <p:cNvSpPr/>
          <p:nvPr/>
        </p:nvSpPr>
        <p:spPr>
          <a:xfrm>
            <a:off x="6112074" y="5537002"/>
            <a:ext cx="926901" cy="330477"/>
          </a:xfrm>
          <a:prstGeom prst="roundRect">
            <a:avLst>
              <a:gd name="adj" fmla="val 57900"/>
            </a:avLst>
          </a:prstGeom>
          <a:solidFill>
            <a:srgbClr val="B5CCE6"/>
          </a:solidFill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73" b="1" dirty="0">
                <a:solidFill>
                  <a:srgbClr val="1A3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973" dirty="0"/>
          </a:p>
        </p:txBody>
      </p:sp>
      <p:pic>
        <p:nvPicPr>
          <p:cNvPr id="42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079865" y="5598728"/>
            <a:ext cx="176784" cy="176784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7297539" y="5537002"/>
            <a:ext cx="1185863" cy="330477"/>
          </a:xfrm>
          <a:prstGeom prst="roundRect">
            <a:avLst>
              <a:gd name="adj" fmla="val 57900"/>
            </a:avLst>
          </a:prstGeom>
          <a:solidFill>
            <a:srgbClr val="2B5EA7"/>
          </a:solidFill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7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73" dirty="0"/>
          </a:p>
        </p:txBody>
      </p:sp>
      <p:sp>
        <p:nvSpPr>
          <p:cNvPr id="44" name="Text 24"/>
          <p:cNvSpPr/>
          <p:nvPr/>
        </p:nvSpPr>
        <p:spPr>
          <a:xfrm>
            <a:off x="609600" y="6047384"/>
            <a:ext cx="10972800" cy="559417"/>
          </a:xfrm>
          <a:prstGeom prst="roundRect">
            <a:avLst>
              <a:gd name="adj" fmla="val 6962"/>
            </a:avLst>
          </a:prstGeom>
          <a:solidFill>
            <a:srgbClr val="F2F5F8"/>
          </a:solidFill>
          <a:ln/>
        </p:spPr>
        <p:txBody>
          <a:bodyPr wrap="square" lIns="191347" tIns="94827" rIns="191347" bIns="94827" rtlCol="0" anchor="t"/>
          <a:lstStyle/>
          <a:p>
            <a:pPr>
              <a:lnSpc>
                <a:spcPts val="1520"/>
              </a:lnSpc>
            </a:pPr>
            <a:r>
              <a:rPr lang="en-US" sz="747" b="1" kern="0" spc="1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1013" dirty="0"/>
          </a:p>
          <a:p>
            <a:pPr>
              <a:lnSpc>
                <a:spcPts val="1520"/>
              </a:lnSpc>
            </a:pPr>
            <a:r>
              <a:rPr lang="en-US" sz="1013" b="1" kern="0" spc="1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Vision: Safest and most responsive city in the world by 2030.</a:t>
            </a:r>
            <a:endParaRPr lang="en-US" sz="1013" dirty="0"/>
          </a:p>
        </p:txBody>
      </p:sp>
      <p:sp>
        <p:nvSpPr>
          <p:cNvPr id="45" name="Text 25"/>
          <p:cNvSpPr/>
          <p:nvPr/>
        </p:nvSpPr>
        <p:spPr>
          <a:xfrm>
            <a:off x="609601" y="6047383"/>
            <a:ext cx="38100" cy="543124"/>
          </a:xfrm>
          <a:custGeom>
            <a:avLst/>
            <a:gdLst/>
            <a:ahLst/>
            <a:cxnLst/>
            <a:rect l="l" t="t" r="r" b="b"/>
            <a:pathLst>
              <a:path w="28575" h="407343">
                <a:moveTo>
                  <a:pt x="0" y="29210"/>
                </a:moveTo>
                <a:lnTo>
                  <a:pt x="3572" y="15213"/>
                </a:lnTo>
                <a:lnTo>
                  <a:pt x="7144" y="10071"/>
                </a:lnTo>
                <a:lnTo>
                  <a:pt x="10716" y="6601"/>
                </a:lnTo>
                <a:lnTo>
                  <a:pt x="14288" y="4099"/>
                </a:lnTo>
                <a:lnTo>
                  <a:pt x="17859" y="2296"/>
                </a:lnTo>
                <a:lnTo>
                  <a:pt x="21431" y="1055"/>
                </a:lnTo>
                <a:lnTo>
                  <a:pt x="25003" y="305"/>
                </a:lnTo>
                <a:lnTo>
                  <a:pt x="28575" y="6400800"/>
                </a:lnTo>
                <a:lnTo>
                  <a:pt x="28575" y="407336"/>
                </a:lnTo>
                <a:lnTo>
                  <a:pt x="25003" y="407038"/>
                </a:lnTo>
                <a:lnTo>
                  <a:pt x="21431" y="406288"/>
                </a:lnTo>
                <a:lnTo>
                  <a:pt x="17859" y="405047"/>
                </a:lnTo>
                <a:lnTo>
                  <a:pt x="14288" y="403243"/>
                </a:lnTo>
                <a:lnTo>
                  <a:pt x="10716" y="400742"/>
                </a:lnTo>
                <a:lnTo>
                  <a:pt x="7144" y="397272"/>
                </a:lnTo>
                <a:lnTo>
                  <a:pt x="3572" y="392129"/>
                </a:lnTo>
                <a:lnTo>
                  <a:pt x="0" y="378133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1" y="496093"/>
            <a:ext cx="3397647" cy="307776"/>
          </a:xfrm>
          <a:prstGeom prst="roundRect">
            <a:avLst>
              <a:gd name="adj" fmla="val 12654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/>
            <a:r>
              <a:rPr lang="en-US" sz="973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5A: COMPLAINT ROUTING OPTIMIZER</a:t>
            </a:r>
            <a:endParaRPr lang="en-US" sz="973" dirty="0"/>
          </a:p>
        </p:txBody>
      </p:sp>
      <p:sp>
        <p:nvSpPr>
          <p:cNvPr id="3" name="Text 1"/>
          <p:cNvSpPr/>
          <p:nvPr/>
        </p:nvSpPr>
        <p:spPr>
          <a:xfrm>
            <a:off x="609600" y="909638"/>
            <a:ext cx="11192256" cy="829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13"/>
              </a:lnSpc>
              <a:spcAft>
                <a:spcPts val="600"/>
              </a:spcAft>
            </a:pPr>
            <a:r>
              <a:rPr lang="en-US" sz="2707" kern="0" spc="-4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AI Engine for Operational</a:t>
            </a:r>
            <a:br>
              <a:rPr sz="2400"/>
            </a:br>
            <a:r>
              <a:rPr lang="en-US" sz="2707" kern="0" spc="-4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Intelligence</a:t>
            </a:r>
            <a:endParaRPr lang="en-US" sz="2707" dirty="0"/>
          </a:p>
        </p:txBody>
      </p:sp>
      <p:sp>
        <p:nvSpPr>
          <p:cNvPr id="4" name="Text 2"/>
          <p:cNvSpPr/>
          <p:nvPr/>
        </p:nvSpPr>
        <p:spPr>
          <a:xfrm>
            <a:off x="609600" y="1776016"/>
            <a:ext cx="609600" cy="38893"/>
          </a:xfrm>
          <a:prstGeom prst="roundRect">
            <a:avLst>
              <a:gd name="adj" fmla="val 47892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1" y="1967310"/>
            <a:ext cx="835614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60"/>
              </a:lnSpc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unsupervised AI to prioritize complaint urgency, improve routing decisions, surface hidden patterns, and support city planning.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3038475"/>
            <a:ext cx="2041525" cy="1734543"/>
          </a:xfrm>
          <a:prstGeom prst="roundRect">
            <a:avLst>
              <a:gd name="adj" fmla="val 6638"/>
            </a:avLst>
          </a:prstGeom>
          <a:solidFill>
            <a:srgbClr val="F2F5F8"/>
          </a:solidFill>
          <a:ln w="9525">
            <a:solidFill>
              <a:srgbClr val="2B5EA7">
                <a:alpha val="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1346" y="3279776"/>
            <a:ext cx="158036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40"/>
              </a:lnSpc>
            </a:pPr>
            <a:r>
              <a:rPr lang="en-US" sz="827" b="1" kern="0" spc="107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827" dirty="0"/>
          </a:p>
        </p:txBody>
      </p:sp>
      <p:sp>
        <p:nvSpPr>
          <p:cNvPr id="8" name="Text 6"/>
          <p:cNvSpPr/>
          <p:nvPr/>
        </p:nvSpPr>
        <p:spPr>
          <a:xfrm>
            <a:off x="1363663" y="3494683"/>
            <a:ext cx="533400" cy="533400"/>
          </a:xfrm>
          <a:prstGeom prst="ellipse">
            <a:avLst/>
          </a:prstGeom>
          <a:gradFill rotWithShape="1">
            <a:gsLst>
              <a:gs pos="0">
                <a:srgbClr val="2B5EA7"/>
              </a:gs>
              <a:gs pos="100000">
                <a:srgbClr val="3A7BD5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7693" y="3668713"/>
            <a:ext cx="185340" cy="1853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1903" y="4161830"/>
            <a:ext cx="716720" cy="388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56"/>
              </a:lnSpc>
            </a:pP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br>
              <a:rPr sz="2400"/>
            </a:b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2842419" y="3038475"/>
            <a:ext cx="2041525" cy="1734543"/>
          </a:xfrm>
          <a:prstGeom prst="roundRect">
            <a:avLst>
              <a:gd name="adj" fmla="val 6638"/>
            </a:avLst>
          </a:prstGeom>
          <a:solidFill>
            <a:srgbClr val="F2F5F8"/>
          </a:solidFill>
          <a:ln w="9525">
            <a:solidFill>
              <a:srgbClr val="2B5EA7">
                <a:alpha val="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784165" y="3279776"/>
            <a:ext cx="158036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40"/>
              </a:lnSpc>
            </a:pPr>
            <a:r>
              <a:rPr lang="en-US" sz="827" b="1" kern="0" spc="107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827" dirty="0"/>
          </a:p>
        </p:txBody>
      </p:sp>
      <p:sp>
        <p:nvSpPr>
          <p:cNvPr id="13" name="Text 10"/>
          <p:cNvSpPr/>
          <p:nvPr/>
        </p:nvSpPr>
        <p:spPr>
          <a:xfrm>
            <a:off x="3596481" y="3494683"/>
            <a:ext cx="533400" cy="533400"/>
          </a:xfrm>
          <a:prstGeom prst="ellipse">
            <a:avLst/>
          </a:prstGeom>
          <a:gradFill rotWithShape="1">
            <a:gsLst>
              <a:gs pos="0">
                <a:srgbClr val="2B5EA7"/>
              </a:gs>
              <a:gs pos="100000">
                <a:srgbClr val="3A7BD5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0511" y="3668713"/>
            <a:ext cx="185340" cy="1853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73133" y="4161830"/>
            <a:ext cx="580096" cy="388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56"/>
              </a:lnSpc>
            </a:pP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br>
              <a:rPr sz="2400"/>
            </a:b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5075238" y="3038475"/>
            <a:ext cx="2041525" cy="1734543"/>
          </a:xfrm>
          <a:prstGeom prst="roundRect">
            <a:avLst>
              <a:gd name="adj" fmla="val 6638"/>
            </a:avLst>
          </a:prstGeom>
          <a:solidFill>
            <a:srgbClr val="F2F5F8"/>
          </a:solidFill>
          <a:ln w="9525">
            <a:solidFill>
              <a:srgbClr val="2B5EA7">
                <a:alpha val="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016983" y="3279776"/>
            <a:ext cx="158036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40"/>
              </a:lnSpc>
            </a:pPr>
            <a:r>
              <a:rPr lang="en-US" sz="827" b="1" kern="0" spc="107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827" dirty="0"/>
          </a:p>
        </p:txBody>
      </p:sp>
      <p:sp>
        <p:nvSpPr>
          <p:cNvPr id="18" name="Text 14"/>
          <p:cNvSpPr/>
          <p:nvPr/>
        </p:nvSpPr>
        <p:spPr>
          <a:xfrm>
            <a:off x="5829300" y="3494683"/>
            <a:ext cx="533400" cy="533400"/>
          </a:xfrm>
          <a:prstGeom prst="ellipse">
            <a:avLst/>
          </a:prstGeom>
          <a:gradFill rotWithShape="1">
            <a:gsLst>
              <a:gs pos="0">
                <a:srgbClr val="2B5EA7"/>
              </a:gs>
              <a:gs pos="100000">
                <a:srgbClr val="3A7BD5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3330" y="3668713"/>
            <a:ext cx="185340" cy="1853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53136" y="4161830"/>
            <a:ext cx="885729" cy="388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56"/>
              </a:lnSpc>
            </a:pP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br>
              <a:rPr sz="2400"/>
            </a:b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120" dirty="0"/>
          </a:p>
        </p:txBody>
      </p:sp>
      <p:sp>
        <p:nvSpPr>
          <p:cNvPr id="21" name="Text 16"/>
          <p:cNvSpPr/>
          <p:nvPr/>
        </p:nvSpPr>
        <p:spPr>
          <a:xfrm>
            <a:off x="7308056" y="3038475"/>
            <a:ext cx="2041525" cy="1734543"/>
          </a:xfrm>
          <a:prstGeom prst="roundRect">
            <a:avLst>
              <a:gd name="adj" fmla="val 6638"/>
            </a:avLst>
          </a:prstGeom>
          <a:solidFill>
            <a:srgbClr val="F2F5F8"/>
          </a:solidFill>
          <a:ln w="9525">
            <a:solidFill>
              <a:srgbClr val="2B5EA7">
                <a:alpha val="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249802" y="3279776"/>
            <a:ext cx="158036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40"/>
              </a:lnSpc>
            </a:pPr>
            <a:r>
              <a:rPr lang="en-US" sz="827" b="1" kern="0" spc="107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827" dirty="0"/>
          </a:p>
        </p:txBody>
      </p:sp>
      <p:sp>
        <p:nvSpPr>
          <p:cNvPr id="23" name="Text 18"/>
          <p:cNvSpPr/>
          <p:nvPr/>
        </p:nvSpPr>
        <p:spPr>
          <a:xfrm>
            <a:off x="8062119" y="3494683"/>
            <a:ext cx="533400" cy="533400"/>
          </a:xfrm>
          <a:prstGeom prst="ellipse">
            <a:avLst/>
          </a:prstGeom>
          <a:gradFill rotWithShape="1">
            <a:gsLst>
              <a:gs pos="0">
                <a:srgbClr val="2B5EA7"/>
              </a:gs>
              <a:gs pos="100000">
                <a:srgbClr val="3A7BD5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6149" y="3668713"/>
            <a:ext cx="185340" cy="1853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85358" y="4161830"/>
            <a:ext cx="1086921" cy="388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56"/>
              </a:lnSpc>
            </a:pP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Pattern</a:t>
            </a:r>
            <a:br>
              <a:rPr sz="2400"/>
            </a:b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20" dirty="0"/>
          </a:p>
        </p:txBody>
      </p:sp>
      <p:sp>
        <p:nvSpPr>
          <p:cNvPr id="26" name="Text 20"/>
          <p:cNvSpPr/>
          <p:nvPr/>
        </p:nvSpPr>
        <p:spPr>
          <a:xfrm>
            <a:off x="9540875" y="3038475"/>
            <a:ext cx="2041525" cy="1734543"/>
          </a:xfrm>
          <a:prstGeom prst="roundRect">
            <a:avLst>
              <a:gd name="adj" fmla="val 6638"/>
            </a:avLst>
          </a:prstGeom>
          <a:solidFill>
            <a:srgbClr val="F2F5F8"/>
          </a:solidFill>
          <a:ln w="9525">
            <a:solidFill>
              <a:srgbClr val="2B5EA7">
                <a:alpha val="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10482621" y="3279776"/>
            <a:ext cx="158036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40"/>
              </a:lnSpc>
            </a:pPr>
            <a:r>
              <a:rPr lang="en-US" sz="827" b="1" kern="0" spc="107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827" dirty="0"/>
          </a:p>
        </p:txBody>
      </p:sp>
      <p:sp>
        <p:nvSpPr>
          <p:cNvPr id="28" name="Text 22"/>
          <p:cNvSpPr/>
          <p:nvPr/>
        </p:nvSpPr>
        <p:spPr>
          <a:xfrm>
            <a:off x="10294937" y="3494683"/>
            <a:ext cx="533400" cy="533400"/>
          </a:xfrm>
          <a:prstGeom prst="ellipse">
            <a:avLst/>
          </a:prstGeom>
          <a:gradFill rotWithShape="1">
            <a:gsLst>
              <a:gs pos="0">
                <a:srgbClr val="2B5EA7"/>
              </a:gs>
              <a:gs pos="100000">
                <a:srgbClr val="3A7BD5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68967" y="3668713"/>
            <a:ext cx="185340" cy="1853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796542" y="4161830"/>
            <a:ext cx="1530191" cy="388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56"/>
              </a:lnSpc>
            </a:pP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Deployment</a:t>
            </a:r>
            <a:br>
              <a:rPr sz="2400"/>
            </a:b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2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24126" y="5314554"/>
            <a:ext cx="7143751" cy="14347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9600" y="6038454"/>
            <a:ext cx="11192256" cy="475853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490564" tIns="133773" rIns="267547" bIns="133773" rtlCol="0" anchor="t"/>
          <a:lstStyle/>
          <a:p>
            <a:r>
              <a:rPr lang="en-US" sz="1093" b="1" kern="0" spc="1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operational decision intelligence — not basic ticket automation.</a:t>
            </a:r>
            <a:endParaRPr lang="en-US" sz="1093" dirty="0"/>
          </a:p>
        </p:txBody>
      </p:sp>
      <p:sp>
        <p:nvSpPr>
          <p:cNvPr id="33" name="Text 25"/>
          <p:cNvSpPr/>
          <p:nvPr/>
        </p:nvSpPr>
        <p:spPr>
          <a:xfrm>
            <a:off x="609601" y="6038454"/>
            <a:ext cx="38100" cy="475853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0897" y="6187988"/>
            <a:ext cx="176784" cy="1767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293" y="457200"/>
            <a:ext cx="11378835" cy="549275"/>
          </a:xfrm>
          <a:prstGeom prst="rect">
            <a:avLst/>
          </a:prstGeom>
          <a:noFill/>
          <a:ln/>
        </p:spPr>
        <p:txBody>
          <a:bodyPr wrap="none" lIns="0" tIns="0" rIns="0" bIns="94827" rtlCol="0" anchor="t"/>
          <a:lstStyle/>
          <a:p>
            <a:r>
              <a:rPr lang="en-US" sz="2253" kern="0" spc="-27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Model Learns Without Waiting for Perfect Labels</a:t>
            </a:r>
            <a:endParaRPr lang="en-US" sz="2253" dirty="0"/>
          </a:p>
        </p:txBody>
      </p:sp>
      <p:sp>
        <p:nvSpPr>
          <p:cNvPr id="3" name="Text 1"/>
          <p:cNvSpPr/>
          <p:nvPr/>
        </p:nvSpPr>
        <p:spPr>
          <a:xfrm>
            <a:off x="572294" y="981075"/>
            <a:ext cx="11047412" cy="25400"/>
          </a:xfrm>
          <a:prstGeom prst="rect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2294" y="1082675"/>
            <a:ext cx="12152153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0"/>
              </a:lnSpc>
              <a:spcAft>
                <a:spcPts val="1800"/>
              </a:spcAft>
            </a:pPr>
            <a:r>
              <a:rPr lang="en-US" sz="1053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unsupervised AI is the right strategic design choice for Nova Haven</a:t>
            </a:r>
            <a:endParaRPr lang="en-US" sz="1053" dirty="0"/>
          </a:p>
        </p:txBody>
      </p:sp>
      <p:sp>
        <p:nvSpPr>
          <p:cNvPr id="5" name="Text 3"/>
          <p:cNvSpPr/>
          <p:nvPr/>
        </p:nvSpPr>
        <p:spPr>
          <a:xfrm>
            <a:off x="572293" y="1511895"/>
            <a:ext cx="5237560" cy="2502693"/>
          </a:xfrm>
          <a:prstGeom prst="roundRect">
            <a:avLst>
              <a:gd name="adj" fmla="val 3045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6566" y="1779390"/>
            <a:ext cx="1493263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b="1" kern="0" spc="187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73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784" y="1783568"/>
            <a:ext cx="176784" cy="17678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144" y="2160500"/>
            <a:ext cx="176784" cy="1767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1726" y="2156024"/>
            <a:ext cx="4510421" cy="4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40"/>
              </a:lnSpc>
            </a:pPr>
            <a:r>
              <a:rPr lang="en-US" sz="116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models require reliable ground-truth labels to learn accurately</a:t>
            </a:r>
            <a:endParaRPr lang="en-US" sz="116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144" y="2754623"/>
            <a:ext cx="176784" cy="1767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01726" y="2750145"/>
            <a:ext cx="4510421" cy="4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40"/>
              </a:lnSpc>
            </a:pPr>
            <a:r>
              <a:rPr lang="en-US" sz="116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labels did not exist at city scale — inconsistent tagging across agencies</a:t>
            </a:r>
            <a:endParaRPr lang="en-US" sz="116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144" y="3348744"/>
            <a:ext cx="176784" cy="1767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01726" y="3344267"/>
            <a:ext cx="4510421" cy="4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40"/>
              </a:lnSpc>
            </a:pPr>
            <a:r>
              <a:rPr lang="en-US" sz="116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training data was unavailable across 186 complaint categories</a:t>
            </a:r>
            <a:endParaRPr lang="en-US" sz="1160" dirty="0"/>
          </a:p>
        </p:txBody>
      </p:sp>
      <p:sp>
        <p:nvSpPr>
          <p:cNvPr id="14" name="Text 8"/>
          <p:cNvSpPr/>
          <p:nvPr/>
        </p:nvSpPr>
        <p:spPr>
          <a:xfrm>
            <a:off x="5886054" y="2553295"/>
            <a:ext cx="419893" cy="461883"/>
          </a:xfrm>
          <a:prstGeom prst="ellipse">
            <a:avLst/>
          </a:prstGeom>
          <a:solidFill>
            <a:srgbClr val="2B5EA7"/>
          </a:solidFill>
          <a:ln/>
          <a:effectLst>
            <a:outerShdw blurRad="57150" dist="13970" dir="5400000" algn="bl" rotWithShape="0">
              <a:srgbClr val="2B5EA7">
                <a:alpha val="2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/>
            <a:r>
              <a:rPr lang="en-US" sz="973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73" dirty="0"/>
          </a:p>
        </p:txBody>
      </p:sp>
      <p:sp>
        <p:nvSpPr>
          <p:cNvPr id="15" name="Text 9"/>
          <p:cNvSpPr/>
          <p:nvPr/>
        </p:nvSpPr>
        <p:spPr>
          <a:xfrm>
            <a:off x="6382147" y="1511895"/>
            <a:ext cx="5237560" cy="2502693"/>
          </a:xfrm>
          <a:prstGeom prst="roundRect">
            <a:avLst>
              <a:gd name="adj" fmla="val 3045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6906419" y="1779390"/>
            <a:ext cx="1424285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b="1" kern="0" spc="18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973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1637" y="1783568"/>
            <a:ext cx="176784" cy="176784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3997" y="2160500"/>
            <a:ext cx="176784" cy="17678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11579" y="2156024"/>
            <a:ext cx="4510421" cy="46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40"/>
              </a:lnSpc>
            </a:pPr>
            <a:r>
              <a:rPr lang="en-US" sz="116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semantic pattern extraction to capture complaint meaning</a:t>
            </a:r>
            <a:endParaRPr lang="en-US" sz="116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3997" y="2754623"/>
            <a:ext cx="176784" cy="17678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11579" y="2750146"/>
            <a:ext cx="4375011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740"/>
              </a:lnSpc>
            </a:pPr>
            <a:r>
              <a:rPr lang="en-US" sz="116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complaint clustering to discover natural groupings</a:t>
            </a:r>
            <a:endParaRPr lang="en-US" sz="116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43997" y="3127883"/>
            <a:ext cx="176784" cy="17678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11580" y="3123407"/>
            <a:ext cx="4671873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740"/>
              </a:lnSpc>
            </a:pPr>
            <a:r>
              <a:rPr lang="en-US" sz="116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urgency scoring engine combining multiple signal types</a:t>
            </a:r>
            <a:endParaRPr lang="en-US" sz="116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43997" y="3501144"/>
            <a:ext cx="176784" cy="176784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11579" y="3496667"/>
            <a:ext cx="4536757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740"/>
              </a:lnSpc>
            </a:pPr>
            <a:r>
              <a:rPr lang="en-US" sz="116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Domain-informed proxy validation for operational confidence</a:t>
            </a:r>
            <a:endParaRPr lang="en-US" sz="1160" dirty="0"/>
          </a:p>
        </p:txBody>
      </p:sp>
      <p:sp>
        <p:nvSpPr>
          <p:cNvPr id="26" name="Text 15"/>
          <p:cNvSpPr/>
          <p:nvPr/>
        </p:nvSpPr>
        <p:spPr>
          <a:xfrm>
            <a:off x="572294" y="4243189"/>
            <a:ext cx="11047412" cy="745728"/>
          </a:xfrm>
          <a:prstGeom prst="rect">
            <a:avLst/>
          </a:prstGeom>
          <a:gradFill rotWithShape="1">
            <a:gsLst>
              <a:gs pos="0">
                <a:srgbClr val="EBF0F7"/>
              </a:gs>
              <a:gs pos="100000">
                <a:srgbClr val="F2F5F8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7" name="Text 16"/>
          <p:cNvSpPr/>
          <p:nvPr/>
        </p:nvSpPr>
        <p:spPr>
          <a:xfrm>
            <a:off x="572294" y="4243189"/>
            <a:ext cx="38100" cy="745728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9283" y="4527561"/>
            <a:ext cx="176784" cy="17678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1111448" y="4395590"/>
            <a:ext cx="10485251" cy="46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36"/>
              </a:lnSpc>
            </a:pPr>
            <a:r>
              <a:rPr lang="en-US" sz="112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</a:t>
            </a: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patterns</a:t>
            </a:r>
            <a:r>
              <a:rPr lang="en-US" sz="112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unknown emerging complaint types, </a:t>
            </a: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service issues</a:t>
            </a:r>
            <a:r>
              <a:rPr lang="en-US" sz="112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explainable operational signals — without requiring manually curated training data.</a:t>
            </a:r>
            <a:endParaRPr lang="en-US" sz="1120" dirty="0"/>
          </a:p>
        </p:txBody>
      </p:sp>
      <p:sp>
        <p:nvSpPr>
          <p:cNvPr id="30" name="Text 18"/>
          <p:cNvSpPr/>
          <p:nvPr/>
        </p:nvSpPr>
        <p:spPr>
          <a:xfrm>
            <a:off x="572294" y="6084293"/>
            <a:ext cx="11047412" cy="468908"/>
          </a:xfrm>
          <a:prstGeom prst="roundRect">
            <a:avLst>
              <a:gd name="adj" fmla="val 12278"/>
            </a:avLst>
          </a:prstGeom>
          <a:solidFill>
            <a:srgbClr val="1A2744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5491" y="6230255"/>
            <a:ext cx="176784" cy="176784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1083072" y="6218039"/>
            <a:ext cx="7766011" cy="20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5"/>
              </a:lnSpc>
            </a:pPr>
            <a:r>
              <a:rPr lang="en-US" sz="109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  Unsupervised learning was strategically superior — not a compromise, but a design choice.</a:t>
            </a:r>
            <a:endParaRPr lang="en-US" sz="1093" dirty="0"/>
          </a:p>
        </p:txBody>
      </p:sp>
      <p:sp>
        <p:nvSpPr>
          <p:cNvPr id="33" name="Text 20"/>
          <p:cNvSpPr/>
          <p:nvPr/>
        </p:nvSpPr>
        <p:spPr>
          <a:xfrm>
            <a:off x="572294" y="1511895"/>
            <a:ext cx="47228" cy="2502688"/>
          </a:xfrm>
          <a:custGeom>
            <a:avLst/>
            <a:gdLst/>
            <a:ahLst/>
            <a:cxnLst/>
            <a:rect l="l" t="t" r="r" b="b"/>
            <a:pathLst>
              <a:path w="35421" h="1877016">
                <a:moveTo>
                  <a:pt x="0" y="57150"/>
                </a:moveTo>
                <a:lnTo>
                  <a:pt x="4428" y="35094"/>
                </a:lnTo>
                <a:lnTo>
                  <a:pt x="8855" y="26593"/>
                </a:lnTo>
                <a:lnTo>
                  <a:pt x="13283" y="20519"/>
                </a:lnTo>
                <a:lnTo>
                  <a:pt x="17711" y="15790"/>
                </a:lnTo>
                <a:lnTo>
                  <a:pt x="22138" y="11980"/>
                </a:lnTo>
                <a:lnTo>
                  <a:pt x="26566" y="8872"/>
                </a:lnTo>
                <a:lnTo>
                  <a:pt x="30993" y="6337"/>
                </a:lnTo>
                <a:lnTo>
                  <a:pt x="35421" y="4292"/>
                </a:lnTo>
                <a:lnTo>
                  <a:pt x="35421" y="1872724"/>
                </a:lnTo>
                <a:lnTo>
                  <a:pt x="30993" y="1870679"/>
                </a:lnTo>
                <a:lnTo>
                  <a:pt x="26566" y="1868143"/>
                </a:lnTo>
                <a:lnTo>
                  <a:pt x="22138" y="1865035"/>
                </a:lnTo>
                <a:lnTo>
                  <a:pt x="17711" y="1861226"/>
                </a:lnTo>
                <a:lnTo>
                  <a:pt x="13283" y="1856496"/>
                </a:lnTo>
                <a:lnTo>
                  <a:pt x="8855" y="1850423"/>
                </a:lnTo>
                <a:lnTo>
                  <a:pt x="4428" y="1841922"/>
                </a:lnTo>
                <a:lnTo>
                  <a:pt x="0" y="1819866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4" name="Text 21"/>
          <p:cNvSpPr/>
          <p:nvPr/>
        </p:nvSpPr>
        <p:spPr>
          <a:xfrm>
            <a:off x="6382147" y="1511895"/>
            <a:ext cx="47228" cy="2502688"/>
          </a:xfrm>
          <a:custGeom>
            <a:avLst/>
            <a:gdLst/>
            <a:ahLst/>
            <a:cxnLst/>
            <a:rect l="l" t="t" r="r" b="b"/>
            <a:pathLst>
              <a:path w="35421" h="1877016">
                <a:moveTo>
                  <a:pt x="0" y="57150"/>
                </a:moveTo>
                <a:lnTo>
                  <a:pt x="4428" y="35094"/>
                </a:lnTo>
                <a:lnTo>
                  <a:pt x="8855" y="26593"/>
                </a:lnTo>
                <a:lnTo>
                  <a:pt x="13283" y="20519"/>
                </a:lnTo>
                <a:lnTo>
                  <a:pt x="17711" y="15790"/>
                </a:lnTo>
                <a:lnTo>
                  <a:pt x="22138" y="11980"/>
                </a:lnTo>
                <a:lnTo>
                  <a:pt x="26566" y="8872"/>
                </a:lnTo>
                <a:lnTo>
                  <a:pt x="30993" y="6337"/>
                </a:lnTo>
                <a:lnTo>
                  <a:pt x="35421" y="4292"/>
                </a:lnTo>
                <a:lnTo>
                  <a:pt x="35421" y="1872724"/>
                </a:lnTo>
                <a:lnTo>
                  <a:pt x="30993" y="1870679"/>
                </a:lnTo>
                <a:lnTo>
                  <a:pt x="26566" y="1868143"/>
                </a:lnTo>
                <a:lnTo>
                  <a:pt x="22138" y="1865035"/>
                </a:lnTo>
                <a:lnTo>
                  <a:pt x="17711" y="1861226"/>
                </a:lnTo>
                <a:lnTo>
                  <a:pt x="13283" y="1856496"/>
                </a:lnTo>
                <a:lnTo>
                  <a:pt x="8855" y="1850423"/>
                </a:lnTo>
                <a:lnTo>
                  <a:pt x="4428" y="1841922"/>
                </a:lnTo>
                <a:lnTo>
                  <a:pt x="0" y="1819866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19894"/>
            <a:ext cx="1223772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  <a:spcAft>
                <a:spcPts val="453"/>
              </a:spcAft>
            </a:pPr>
            <a:r>
              <a:rPr lang="en-US" sz="827" b="1" kern="0" spc="14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OPERATING STACK</a:t>
            </a:r>
            <a:endParaRPr lang="en-US" sz="827" dirty="0"/>
          </a:p>
        </p:txBody>
      </p:sp>
      <p:sp>
        <p:nvSpPr>
          <p:cNvPr id="3" name="Text 1"/>
          <p:cNvSpPr/>
          <p:nvPr/>
        </p:nvSpPr>
        <p:spPr>
          <a:xfrm>
            <a:off x="533401" y="634801"/>
            <a:ext cx="11903964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29"/>
              </a:lnSpc>
            </a:pPr>
            <a:r>
              <a:rPr lang="en-US" sz="2547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Reactive Tickets Become Intelligence Signals</a:t>
            </a:r>
            <a:endParaRPr lang="en-US" sz="2547" dirty="0"/>
          </a:p>
        </p:txBody>
      </p:sp>
      <p:sp>
        <p:nvSpPr>
          <p:cNvPr id="4" name="Text 2"/>
          <p:cNvSpPr/>
          <p:nvPr/>
        </p:nvSpPr>
        <p:spPr>
          <a:xfrm>
            <a:off x="533400" y="1235274"/>
            <a:ext cx="11125200" cy="611188"/>
          </a:xfrm>
          <a:prstGeom prst="roundRect">
            <a:avLst>
              <a:gd name="adj" fmla="val 12468"/>
            </a:avLst>
          </a:prstGeom>
          <a:solidFill>
            <a:srgbClr val="1A3A6B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0894" y="1369020"/>
            <a:ext cx="343693" cy="343693"/>
          </a:xfrm>
          <a:prstGeom prst="roundRect">
            <a:avLst>
              <a:gd name="adj" fmla="val 221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249" y="1452376"/>
            <a:ext cx="176784" cy="176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882" y="1448198"/>
            <a:ext cx="209550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b="1" kern="0" spc="107" dirty="0">
                <a:solidFill>
                  <a:srgbClr val="FFFFFF">
                    <a:alpha val="9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SOURCES</a:t>
            </a:r>
            <a:endParaRPr lang="en-US" sz="973" dirty="0"/>
          </a:p>
        </p:txBody>
      </p:sp>
      <p:sp>
        <p:nvSpPr>
          <p:cNvPr id="8" name="Text 5"/>
          <p:cNvSpPr/>
          <p:nvPr/>
        </p:nvSpPr>
        <p:spPr>
          <a:xfrm>
            <a:off x="3432175" y="1388270"/>
            <a:ext cx="2249488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Complaints + Service Requests</a:t>
            </a:r>
            <a:endParaRPr lang="en-US" sz="973" dirty="0"/>
          </a:p>
        </p:txBody>
      </p:sp>
      <p:sp>
        <p:nvSpPr>
          <p:cNvPr id="9" name="Text 6"/>
          <p:cNvSpPr/>
          <p:nvPr/>
        </p:nvSpPr>
        <p:spPr>
          <a:xfrm>
            <a:off x="5757864" y="1388270"/>
            <a:ext cx="1328737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/ Asset Data</a:t>
            </a:r>
            <a:endParaRPr lang="en-US" sz="973" dirty="0"/>
          </a:p>
        </p:txBody>
      </p:sp>
      <p:sp>
        <p:nvSpPr>
          <p:cNvPr id="10" name="Text 7"/>
          <p:cNvSpPr/>
          <p:nvPr/>
        </p:nvSpPr>
        <p:spPr>
          <a:xfrm>
            <a:off x="7162800" y="1388270"/>
            <a:ext cx="1150739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Data</a:t>
            </a:r>
            <a:endParaRPr lang="en-US" sz="973" dirty="0"/>
          </a:p>
        </p:txBody>
      </p:sp>
      <p:sp>
        <p:nvSpPr>
          <p:cNvPr id="11" name="Text 8"/>
          <p:cNvSpPr/>
          <p:nvPr/>
        </p:nvSpPr>
        <p:spPr>
          <a:xfrm>
            <a:off x="8389740" y="1388270"/>
            <a:ext cx="1754385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Knowledge Sources</a:t>
            </a:r>
            <a:endParaRPr lang="en-US" sz="973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275" y="1877219"/>
            <a:ext cx="171451" cy="185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3400" y="2093517"/>
            <a:ext cx="11125200" cy="611188"/>
          </a:xfrm>
          <a:prstGeom prst="roundRect">
            <a:avLst>
              <a:gd name="adj" fmla="val 12468"/>
            </a:avLst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00894" y="2227263"/>
            <a:ext cx="343693" cy="343693"/>
          </a:xfrm>
          <a:prstGeom prst="roundRect">
            <a:avLst>
              <a:gd name="adj" fmla="val 221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249" y="2310619"/>
            <a:ext cx="176784" cy="1767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35882" y="2306439"/>
            <a:ext cx="209550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b="1" kern="0" spc="107" dirty="0">
                <a:solidFill>
                  <a:srgbClr val="FFFFFF">
                    <a:alpha val="9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ENGINEERING</a:t>
            </a:r>
            <a:endParaRPr lang="en-US" sz="973" dirty="0"/>
          </a:p>
        </p:txBody>
      </p:sp>
      <p:sp>
        <p:nvSpPr>
          <p:cNvPr id="17" name="Text 12"/>
          <p:cNvSpPr/>
          <p:nvPr/>
        </p:nvSpPr>
        <p:spPr>
          <a:xfrm>
            <a:off x="3432176" y="2246511"/>
            <a:ext cx="862409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73" dirty="0"/>
          </a:p>
        </p:txBody>
      </p:sp>
      <p:sp>
        <p:nvSpPr>
          <p:cNvPr id="18" name="Text 13"/>
          <p:cNvSpPr/>
          <p:nvPr/>
        </p:nvSpPr>
        <p:spPr>
          <a:xfrm>
            <a:off x="4370785" y="2246511"/>
            <a:ext cx="1066007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Pipelines</a:t>
            </a:r>
            <a:endParaRPr lang="en-US" sz="973" dirty="0"/>
          </a:p>
        </p:txBody>
      </p:sp>
      <p:sp>
        <p:nvSpPr>
          <p:cNvPr id="19" name="Text 14"/>
          <p:cNvSpPr/>
          <p:nvPr/>
        </p:nvSpPr>
        <p:spPr>
          <a:xfrm>
            <a:off x="5512991" y="2246511"/>
            <a:ext cx="1390848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Ingestion</a:t>
            </a:r>
            <a:endParaRPr lang="en-US" sz="973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0275" y="2735462"/>
            <a:ext cx="171451" cy="1853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3400" y="2951758"/>
            <a:ext cx="11125200" cy="611188"/>
          </a:xfrm>
          <a:prstGeom prst="roundRect">
            <a:avLst>
              <a:gd name="adj" fmla="val 12468"/>
            </a:avLst>
          </a:prstGeom>
          <a:solidFill>
            <a:srgbClr val="3574C4"/>
          </a:solidFill>
          <a:ln/>
          <a:effectLst>
            <a:outerShdw blurRad="101600" dist="50800" dir="16200000" algn="bl" rotWithShape="0">
              <a:srgbClr val="3574C4">
                <a:alpha val="35000"/>
              </a:srgbClr>
            </a:outerShdw>
          </a:effectLst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00894" y="3085506"/>
            <a:ext cx="343693" cy="343693"/>
          </a:xfrm>
          <a:prstGeom prst="roundRect">
            <a:avLst>
              <a:gd name="adj" fmla="val 22171"/>
            </a:avLst>
          </a:prstGeom>
          <a:solidFill>
            <a:srgbClr val="FFFFFF">
              <a:alpha val="22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4249" y="3168860"/>
            <a:ext cx="176784" cy="1767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35881" y="3164682"/>
            <a:ext cx="252224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b="1" kern="0" spc="107" dirty="0">
                <a:solidFill>
                  <a:srgbClr val="FFFFFF">
                    <a:alpha val="9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5A ROUTING OPTIMIZER</a:t>
            </a:r>
            <a:endParaRPr lang="en-US" sz="973" dirty="0"/>
          </a:p>
        </p:txBody>
      </p:sp>
      <p:sp>
        <p:nvSpPr>
          <p:cNvPr id="25" name="Text 18"/>
          <p:cNvSpPr/>
          <p:nvPr/>
        </p:nvSpPr>
        <p:spPr>
          <a:xfrm>
            <a:off x="3820120" y="3104754"/>
            <a:ext cx="848717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24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973" dirty="0"/>
          </a:p>
        </p:txBody>
      </p:sp>
      <p:sp>
        <p:nvSpPr>
          <p:cNvPr id="26" name="Text 19"/>
          <p:cNvSpPr/>
          <p:nvPr/>
        </p:nvSpPr>
        <p:spPr>
          <a:xfrm>
            <a:off x="4745038" y="3104754"/>
            <a:ext cx="1205309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24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Scoring</a:t>
            </a:r>
            <a:endParaRPr lang="en-US" sz="973" dirty="0"/>
          </a:p>
        </p:txBody>
      </p:sp>
      <p:sp>
        <p:nvSpPr>
          <p:cNvPr id="27" name="Text 20"/>
          <p:cNvSpPr/>
          <p:nvPr/>
        </p:nvSpPr>
        <p:spPr>
          <a:xfrm>
            <a:off x="6026547" y="3104754"/>
            <a:ext cx="1136651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24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Routing</a:t>
            </a:r>
            <a:endParaRPr lang="en-US" sz="973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0275" y="3593703"/>
            <a:ext cx="171451" cy="1853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3400" y="3810001"/>
            <a:ext cx="11125200" cy="611188"/>
          </a:xfrm>
          <a:prstGeom prst="roundRect">
            <a:avLst>
              <a:gd name="adj" fmla="val 12468"/>
            </a:avLst>
          </a:prstGeom>
          <a:solidFill>
            <a:srgbClr val="4A8FD9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0" name="Text 22"/>
          <p:cNvSpPr/>
          <p:nvPr/>
        </p:nvSpPr>
        <p:spPr>
          <a:xfrm>
            <a:off x="800894" y="3943747"/>
            <a:ext cx="343693" cy="343693"/>
          </a:xfrm>
          <a:prstGeom prst="roundRect">
            <a:avLst>
              <a:gd name="adj" fmla="val 221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4249" y="4027103"/>
            <a:ext cx="176784" cy="1767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335882" y="4022925"/>
            <a:ext cx="254254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b="1" kern="0" spc="107" dirty="0">
                <a:solidFill>
                  <a:srgbClr val="FFFFFF">
                    <a:alpha val="9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OPERATIONAL DECISION LAYER</a:t>
            </a:r>
            <a:endParaRPr lang="en-US" sz="973" dirty="0"/>
          </a:p>
        </p:txBody>
      </p:sp>
      <p:sp>
        <p:nvSpPr>
          <p:cNvPr id="33" name="Text 24"/>
          <p:cNvSpPr/>
          <p:nvPr/>
        </p:nvSpPr>
        <p:spPr>
          <a:xfrm>
            <a:off x="3838575" y="3962995"/>
            <a:ext cx="1239837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Queues</a:t>
            </a:r>
            <a:endParaRPr lang="en-US" sz="973" dirty="0"/>
          </a:p>
        </p:txBody>
      </p:sp>
      <p:sp>
        <p:nvSpPr>
          <p:cNvPr id="34" name="Text 25"/>
          <p:cNvSpPr/>
          <p:nvPr/>
        </p:nvSpPr>
        <p:spPr>
          <a:xfrm>
            <a:off x="5154612" y="3962995"/>
            <a:ext cx="1294408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Prioritization</a:t>
            </a:r>
            <a:endParaRPr lang="en-US" sz="973" dirty="0"/>
          </a:p>
        </p:txBody>
      </p:sp>
      <p:sp>
        <p:nvSpPr>
          <p:cNvPr id="35" name="Text 26"/>
          <p:cNvSpPr/>
          <p:nvPr/>
        </p:nvSpPr>
        <p:spPr>
          <a:xfrm>
            <a:off x="6525221" y="3962995"/>
            <a:ext cx="1164431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Routing</a:t>
            </a:r>
            <a:endParaRPr lang="en-US" sz="973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10275" y="4451946"/>
            <a:ext cx="171451" cy="18534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33400" y="4668243"/>
            <a:ext cx="11125200" cy="611188"/>
          </a:xfrm>
          <a:prstGeom prst="roundRect">
            <a:avLst>
              <a:gd name="adj" fmla="val 12468"/>
            </a:avLst>
          </a:prstGeom>
          <a:solidFill>
            <a:srgbClr val="6BAAE6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8" name="Text 28"/>
          <p:cNvSpPr/>
          <p:nvPr/>
        </p:nvSpPr>
        <p:spPr>
          <a:xfrm>
            <a:off x="800894" y="4801990"/>
            <a:ext cx="343693" cy="343693"/>
          </a:xfrm>
          <a:prstGeom prst="roundRect">
            <a:avLst>
              <a:gd name="adj" fmla="val 221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4249" y="4885345"/>
            <a:ext cx="176784" cy="17678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335882" y="4881166"/>
            <a:ext cx="209550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b="1" kern="0" spc="107" dirty="0">
                <a:solidFill>
                  <a:srgbClr val="FFFFFF">
                    <a:alpha val="9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PLANNING INTELLIGENCE</a:t>
            </a:r>
            <a:endParaRPr lang="en-US" sz="973" dirty="0"/>
          </a:p>
        </p:txBody>
      </p:sp>
      <p:sp>
        <p:nvSpPr>
          <p:cNvPr id="41" name="Text 30"/>
          <p:cNvSpPr/>
          <p:nvPr/>
        </p:nvSpPr>
        <p:spPr>
          <a:xfrm>
            <a:off x="3432175" y="4821238"/>
            <a:ext cx="1397595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Forecasting</a:t>
            </a:r>
            <a:endParaRPr lang="en-US" sz="973" dirty="0"/>
          </a:p>
        </p:txBody>
      </p:sp>
      <p:sp>
        <p:nvSpPr>
          <p:cNvPr id="42" name="Text 31"/>
          <p:cNvSpPr/>
          <p:nvPr/>
        </p:nvSpPr>
        <p:spPr>
          <a:xfrm>
            <a:off x="4905971" y="4821238"/>
            <a:ext cx="1534716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Planning</a:t>
            </a:r>
            <a:endParaRPr lang="en-US" sz="973" dirty="0"/>
          </a:p>
        </p:txBody>
      </p:sp>
      <p:sp>
        <p:nvSpPr>
          <p:cNvPr id="43" name="Text 32"/>
          <p:cNvSpPr/>
          <p:nvPr/>
        </p:nvSpPr>
        <p:spPr>
          <a:xfrm>
            <a:off x="6516886" y="4821238"/>
            <a:ext cx="1541463" cy="335716"/>
          </a:xfrm>
          <a:prstGeom prst="roundRect">
            <a:avLst>
              <a:gd name="adj" fmla="val 1412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Optimization</a:t>
            </a:r>
            <a:endParaRPr lang="en-US" sz="973" dirty="0"/>
          </a:p>
        </p:txBody>
      </p:sp>
      <p:sp>
        <p:nvSpPr>
          <p:cNvPr id="44" name="Text 33"/>
          <p:cNvSpPr/>
          <p:nvPr/>
        </p:nvSpPr>
        <p:spPr>
          <a:xfrm>
            <a:off x="533400" y="6170811"/>
            <a:ext cx="11125200" cy="382389"/>
          </a:xfrm>
          <a:prstGeom prst="rect">
            <a:avLst/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5" name="Text 34"/>
          <p:cNvSpPr/>
          <p:nvPr/>
        </p:nvSpPr>
        <p:spPr>
          <a:xfrm>
            <a:off x="533401" y="6170811"/>
            <a:ext cx="38100" cy="382389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6" name="Text 35"/>
          <p:cNvSpPr/>
          <p:nvPr/>
        </p:nvSpPr>
        <p:spPr>
          <a:xfrm>
            <a:off x="800100" y="6265465"/>
            <a:ext cx="1794272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20"/>
              </a:lnSpc>
            </a:pPr>
            <a:r>
              <a:rPr lang="en-US" sz="101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1013" dirty="0"/>
          </a:p>
        </p:txBody>
      </p:sp>
      <p:sp>
        <p:nvSpPr>
          <p:cNvPr id="47" name="Text 36"/>
          <p:cNvSpPr/>
          <p:nvPr/>
        </p:nvSpPr>
        <p:spPr>
          <a:xfrm>
            <a:off x="2564806" y="6265465"/>
            <a:ext cx="36889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20"/>
              </a:lnSpc>
            </a:pPr>
            <a:r>
              <a:rPr lang="en-US" sz="101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013" dirty="0"/>
          </a:p>
        </p:txBody>
      </p:sp>
      <p:sp>
        <p:nvSpPr>
          <p:cNvPr id="48" name="Text 37"/>
          <p:cNvSpPr/>
          <p:nvPr/>
        </p:nvSpPr>
        <p:spPr>
          <a:xfrm>
            <a:off x="2731890" y="6265465"/>
            <a:ext cx="5204916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20"/>
              </a:lnSpc>
            </a:pPr>
            <a:r>
              <a:rPr lang="en-US" sz="101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AI operating system — from raw data to executive planning intelligence.</a:t>
            </a:r>
            <a:endParaRPr lang="en-US" sz="101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1"/>
            <a:ext cx="1462088" cy="258663"/>
          </a:xfrm>
          <a:prstGeom prst="roundRect">
            <a:avLst>
              <a:gd name="adj" fmla="val 15057"/>
            </a:avLst>
          </a:prstGeom>
          <a:solidFill>
            <a:srgbClr val="E8EFF8"/>
          </a:solidFill>
          <a:ln/>
        </p:spPr>
        <p:txBody>
          <a:bodyPr wrap="none" lIns="0" tIns="0" rIns="0" bIns="0" rtlCol="0" anchor="ctr"/>
          <a:lstStyle/>
          <a:p>
            <a:pPr algn="ctr"/>
            <a:r>
              <a:rPr lang="en-US" sz="827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827" dirty="0"/>
          </a:p>
        </p:txBody>
      </p:sp>
      <p:sp>
        <p:nvSpPr>
          <p:cNvPr id="3" name="Text 1"/>
          <p:cNvSpPr/>
          <p:nvPr/>
        </p:nvSpPr>
        <p:spPr>
          <a:xfrm>
            <a:off x="609600" y="826095"/>
            <a:ext cx="11740896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  <a:spcAft>
                <a:spcPts val="453"/>
              </a:spcAft>
            </a:pPr>
            <a:r>
              <a:rPr lang="en-US" sz="24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Unsupervised Model Performs Like an Intelligent Triage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249363"/>
            <a:ext cx="572293" cy="28773"/>
          </a:xfrm>
          <a:prstGeom prst="roundRect">
            <a:avLst>
              <a:gd name="adj" fmla="val 64736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1545630"/>
            <a:ext cx="3479205" cy="1685405"/>
          </a:xfrm>
          <a:prstGeom prst="roundRect">
            <a:avLst>
              <a:gd name="adj" fmla="val 6832"/>
            </a:avLst>
          </a:prstGeom>
          <a:solidFill>
            <a:srgbClr val="F2F5F8"/>
          </a:solidFill>
          <a:ln w="9525">
            <a:solidFill>
              <a:srgbClr val="E2E8F0"/>
            </a:solidFill>
          </a:ln>
        </p:spPr>
        <p:txBody>
          <a:bodyPr wrap="square" lIns="228600" tIns="304800" rIns="228600" bIns="228600" rtlCol="0" anchor="t"/>
          <a:lstStyle/>
          <a:p>
            <a:pPr algn="ctr"/>
            <a:r>
              <a:rPr lang="en-US" sz="4200" b="1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0.186</a:t>
            </a:r>
            <a:endParaRPr lang="en-US" sz="4200" dirty="0"/>
          </a:p>
          <a:p>
            <a:pPr algn="ctr"/>
            <a:r>
              <a:rPr lang="en-US" sz="128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4200" dirty="0"/>
          </a:p>
          <a:p>
            <a:pPr algn="ctr"/>
            <a:endParaRPr lang="en-US" sz="4200" dirty="0"/>
          </a:p>
          <a:p>
            <a:pPr algn="ctr"/>
            <a:r>
              <a:rPr lang="en-US" sz="973" kern="0" spc="59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QUALITY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356299" y="1545630"/>
            <a:ext cx="3479205" cy="1685405"/>
          </a:xfrm>
          <a:prstGeom prst="roundRect">
            <a:avLst>
              <a:gd name="adj" fmla="val 6832"/>
            </a:avLst>
          </a:prstGeom>
          <a:solidFill>
            <a:srgbClr val="F2F5F8"/>
          </a:solidFill>
          <a:ln w="9525">
            <a:solidFill>
              <a:srgbClr val="E2E8F0"/>
            </a:solidFill>
          </a:ln>
        </p:spPr>
        <p:txBody>
          <a:bodyPr wrap="square" lIns="228600" tIns="304800" rIns="228600" bIns="228600" rtlCol="0" anchor="t"/>
          <a:lstStyle/>
          <a:p>
            <a:pPr algn="ctr"/>
            <a:r>
              <a:rPr lang="en-US" sz="4200" b="1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94.4%</a:t>
            </a:r>
            <a:endParaRPr lang="en-US" sz="4200" dirty="0"/>
          </a:p>
          <a:p>
            <a:pPr algn="ctr"/>
            <a:r>
              <a:rPr lang="en-US" sz="128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Alignment</a:t>
            </a:r>
            <a:endParaRPr lang="en-US" sz="4200" dirty="0"/>
          </a:p>
          <a:p>
            <a:pPr algn="ctr"/>
            <a:endParaRPr lang="en-US" sz="4200" dirty="0"/>
          </a:p>
          <a:p>
            <a:pPr algn="ctr"/>
            <a:r>
              <a:rPr lang="en-US" sz="973" kern="0" spc="59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ACCURACY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102997" y="1545630"/>
            <a:ext cx="3479403" cy="1685405"/>
          </a:xfrm>
          <a:prstGeom prst="roundRect">
            <a:avLst>
              <a:gd name="adj" fmla="val 6832"/>
            </a:avLst>
          </a:prstGeom>
          <a:solidFill>
            <a:srgbClr val="F2F5F8"/>
          </a:solidFill>
          <a:ln w="9525">
            <a:solidFill>
              <a:srgbClr val="E2E8F0"/>
            </a:solidFill>
          </a:ln>
        </p:spPr>
        <p:txBody>
          <a:bodyPr wrap="square" lIns="228600" tIns="304800" rIns="228600" bIns="228600" rtlCol="0" anchor="t"/>
          <a:lstStyle/>
          <a:p>
            <a:pPr algn="ctr"/>
            <a:r>
              <a:rPr lang="en-US" sz="4200" b="1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7.48x</a:t>
            </a:r>
            <a:endParaRPr lang="en-US" sz="4200" dirty="0"/>
          </a:p>
          <a:p>
            <a:pPr algn="ctr"/>
            <a:r>
              <a:rPr lang="en-US" sz="128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Capture Lift</a:t>
            </a:r>
            <a:endParaRPr lang="en-US" sz="4200" dirty="0"/>
          </a:p>
          <a:p>
            <a:pPr algn="ctr"/>
            <a:endParaRPr lang="en-US" sz="4200" dirty="0"/>
          </a:p>
          <a:p>
            <a:pPr algn="ctr"/>
            <a:r>
              <a:rPr lang="en-US" sz="973" kern="0" spc="59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DECILE PERFORMANCE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937345" y="4553149"/>
            <a:ext cx="905867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CURVE</a:t>
            </a:r>
            <a:endParaRPr lang="en-US" sz="973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901" y="3843139"/>
            <a:ext cx="2996407" cy="14982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83746" y="4553149"/>
            <a:ext cx="2666524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SEVERITY DISTRIBUTION</a:t>
            </a:r>
            <a:endParaRPr lang="en-US" sz="973" dirty="0"/>
          </a:p>
        </p:txBody>
      </p:sp>
      <p:sp>
        <p:nvSpPr>
          <p:cNvPr id="11" name="Text 8"/>
          <p:cNvSpPr/>
          <p:nvPr/>
        </p:nvSpPr>
        <p:spPr>
          <a:xfrm>
            <a:off x="5269310" y="5127030"/>
            <a:ext cx="170855" cy="550069"/>
          </a:xfrm>
          <a:prstGeom prst="roundRect">
            <a:avLst>
              <a:gd name="adj" fmla="val 16849"/>
            </a:avLst>
          </a:prstGeom>
          <a:solidFill>
            <a:srgbClr val="2B5EA7">
              <a:alpha val="2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516365" y="4668441"/>
            <a:ext cx="170855" cy="1008657"/>
          </a:xfrm>
          <a:prstGeom prst="roundRect">
            <a:avLst>
              <a:gd name="adj" fmla="val 16849"/>
            </a:avLst>
          </a:prstGeom>
          <a:solidFill>
            <a:srgbClr val="2B5EA7">
              <a:alpha val="2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763419" y="4210051"/>
            <a:ext cx="170855" cy="1467048"/>
          </a:xfrm>
          <a:prstGeom prst="roundRect">
            <a:avLst>
              <a:gd name="adj" fmla="val 16849"/>
            </a:avLst>
          </a:prstGeom>
          <a:solidFill>
            <a:srgbClr val="2B5EA7">
              <a:alpha val="2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010474" y="3843139"/>
            <a:ext cx="170855" cy="1833960"/>
          </a:xfrm>
          <a:prstGeom prst="roundRect">
            <a:avLst>
              <a:gd name="adj" fmla="val 16849"/>
            </a:avLst>
          </a:prstGeom>
          <a:solidFill>
            <a:srgbClr val="1B3F73">
              <a:alpha val="2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257529" y="4485085"/>
            <a:ext cx="170855" cy="1192015"/>
          </a:xfrm>
          <a:prstGeom prst="roundRect">
            <a:avLst>
              <a:gd name="adj" fmla="val 16849"/>
            </a:avLst>
          </a:prstGeom>
          <a:solidFill>
            <a:srgbClr val="2B5EA7">
              <a:alpha val="2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504583" y="4906963"/>
            <a:ext cx="170855" cy="770136"/>
          </a:xfrm>
          <a:prstGeom prst="roundRect">
            <a:avLst>
              <a:gd name="adj" fmla="val 16849"/>
            </a:avLst>
          </a:prstGeom>
          <a:solidFill>
            <a:srgbClr val="2B5EA7">
              <a:alpha val="2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751638" y="5273675"/>
            <a:ext cx="170855" cy="403424"/>
          </a:xfrm>
          <a:prstGeom prst="roundRect">
            <a:avLst>
              <a:gd name="adj" fmla="val 16849"/>
            </a:avLst>
          </a:prstGeom>
          <a:solidFill>
            <a:srgbClr val="2B5EA7">
              <a:alpha val="2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724305" y="4553149"/>
            <a:ext cx="2460248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ALIGNMENT HEATMAP</a:t>
            </a:r>
            <a:endParaRPr lang="en-US" sz="973" dirty="0"/>
          </a:p>
        </p:txBody>
      </p:sp>
      <p:sp>
        <p:nvSpPr>
          <p:cNvPr id="19" name="Text 16"/>
          <p:cNvSpPr/>
          <p:nvPr/>
        </p:nvSpPr>
        <p:spPr>
          <a:xfrm>
            <a:off x="8420498" y="3919339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8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997156" y="3919339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1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573816" y="3919339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0150475" y="3919339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8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0727135" y="3919339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8420498" y="4492825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12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997156" y="4492825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70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9573816" y="4492825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18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10150475" y="4492825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0727135" y="4492825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8420498" y="5066309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8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8997156" y="5066309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1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9573816" y="5066309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22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10150475" y="5066309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6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10727135" y="5066309"/>
            <a:ext cx="537765" cy="534591"/>
          </a:xfrm>
          <a:prstGeom prst="roundRect">
            <a:avLst>
              <a:gd name="adj" fmla="val 5385"/>
            </a:avLst>
          </a:prstGeom>
          <a:solidFill>
            <a:srgbClr val="2B5EA7">
              <a:alpha val="10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609600" y="6070799"/>
            <a:ext cx="10972800" cy="443508"/>
          </a:xfrm>
          <a:prstGeom prst="roundRect">
            <a:avLst>
              <a:gd name="adj" fmla="val 17181"/>
            </a:avLst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437" y="6204160"/>
            <a:ext cx="176784" cy="17678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115219" y="6185892"/>
            <a:ext cx="601124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80"/>
              </a:lnSpc>
            </a:pPr>
            <a:r>
              <a:rPr lang="en-US" sz="1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complaints are surfaced dramatically earlier — proving real operational value.</a:t>
            </a:r>
            <a:endParaRPr lang="en-US" sz="1120" dirty="0"/>
          </a:p>
        </p:txBody>
      </p:sp>
      <p:sp>
        <p:nvSpPr>
          <p:cNvPr id="37" name="Text 33"/>
          <p:cNvSpPr/>
          <p:nvPr/>
        </p:nvSpPr>
        <p:spPr>
          <a:xfrm>
            <a:off x="2062960" y="1558330"/>
            <a:ext cx="572293" cy="38893"/>
          </a:xfrm>
          <a:custGeom>
            <a:avLst/>
            <a:gdLst/>
            <a:ahLst/>
            <a:cxnLst/>
            <a:rect l="l" t="t" r="r" b="b"/>
            <a:pathLst>
              <a:path w="429220" h="29170">
                <a:moveTo>
                  <a:pt x="0" y="0"/>
                </a:moveTo>
                <a:lnTo>
                  <a:pt x="429220" y="0"/>
                </a:lnTo>
                <a:lnTo>
                  <a:pt x="429220" y="-36576000"/>
                </a:lnTo>
                <a:lnTo>
                  <a:pt x="429220" y="0"/>
                </a:lnTo>
                <a:lnTo>
                  <a:pt x="428659" y="5659"/>
                </a:lnTo>
                <a:lnTo>
                  <a:pt x="426997" y="11138"/>
                </a:lnTo>
                <a:lnTo>
                  <a:pt x="424298" y="16189"/>
                </a:lnTo>
                <a:lnTo>
                  <a:pt x="420665" y="20615"/>
                </a:lnTo>
                <a:lnTo>
                  <a:pt x="416239" y="24248"/>
                </a:lnTo>
                <a:lnTo>
                  <a:pt x="411188" y="26947"/>
                </a:lnTo>
                <a:lnTo>
                  <a:pt x="405709" y="28609"/>
                </a:lnTo>
                <a:lnTo>
                  <a:pt x="400010" y="29170"/>
                </a:lnTo>
                <a:lnTo>
                  <a:pt x="29210" y="29170"/>
                </a:lnTo>
                <a:lnTo>
                  <a:pt x="0" y="0"/>
                </a:lnTo>
                <a:lnTo>
                  <a:pt x="561" y="5659"/>
                </a:lnTo>
                <a:lnTo>
                  <a:pt x="2223" y="11138"/>
                </a:lnTo>
                <a:lnTo>
                  <a:pt x="4923" y="16189"/>
                </a:lnTo>
                <a:lnTo>
                  <a:pt x="8555" y="20615"/>
                </a:lnTo>
                <a:lnTo>
                  <a:pt x="12982" y="24248"/>
                </a:lnTo>
                <a:lnTo>
                  <a:pt x="18032" y="26947"/>
                </a:lnTo>
                <a:lnTo>
                  <a:pt x="23511" y="28609"/>
                </a:lnTo>
                <a:lnTo>
                  <a:pt x="29210" y="2917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8" name="Text 34"/>
          <p:cNvSpPr/>
          <p:nvPr/>
        </p:nvSpPr>
        <p:spPr>
          <a:xfrm>
            <a:off x="5809659" y="1558330"/>
            <a:ext cx="572293" cy="38893"/>
          </a:xfrm>
          <a:custGeom>
            <a:avLst/>
            <a:gdLst/>
            <a:ahLst/>
            <a:cxnLst/>
            <a:rect l="l" t="t" r="r" b="b"/>
            <a:pathLst>
              <a:path w="429220" h="29170">
                <a:moveTo>
                  <a:pt x="0" y="0"/>
                </a:moveTo>
                <a:lnTo>
                  <a:pt x="429220" y="0"/>
                </a:lnTo>
                <a:lnTo>
                  <a:pt x="429220" y="-36576000"/>
                </a:lnTo>
                <a:lnTo>
                  <a:pt x="429220" y="0"/>
                </a:lnTo>
                <a:lnTo>
                  <a:pt x="428659" y="5659"/>
                </a:lnTo>
                <a:lnTo>
                  <a:pt x="426997" y="11138"/>
                </a:lnTo>
                <a:lnTo>
                  <a:pt x="424298" y="16189"/>
                </a:lnTo>
                <a:lnTo>
                  <a:pt x="420665" y="20615"/>
                </a:lnTo>
                <a:lnTo>
                  <a:pt x="416239" y="24248"/>
                </a:lnTo>
                <a:lnTo>
                  <a:pt x="411188" y="26947"/>
                </a:lnTo>
                <a:lnTo>
                  <a:pt x="405709" y="28609"/>
                </a:lnTo>
                <a:lnTo>
                  <a:pt x="400010" y="29170"/>
                </a:lnTo>
                <a:lnTo>
                  <a:pt x="29210" y="29170"/>
                </a:lnTo>
                <a:lnTo>
                  <a:pt x="0" y="0"/>
                </a:lnTo>
                <a:lnTo>
                  <a:pt x="561" y="5659"/>
                </a:lnTo>
                <a:lnTo>
                  <a:pt x="2223" y="11138"/>
                </a:lnTo>
                <a:lnTo>
                  <a:pt x="4923" y="16189"/>
                </a:lnTo>
                <a:lnTo>
                  <a:pt x="8555" y="20615"/>
                </a:lnTo>
                <a:lnTo>
                  <a:pt x="12982" y="24248"/>
                </a:lnTo>
                <a:lnTo>
                  <a:pt x="18032" y="26947"/>
                </a:lnTo>
                <a:lnTo>
                  <a:pt x="23511" y="28609"/>
                </a:lnTo>
                <a:lnTo>
                  <a:pt x="29210" y="2917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9" name="Text 35"/>
          <p:cNvSpPr/>
          <p:nvPr/>
        </p:nvSpPr>
        <p:spPr>
          <a:xfrm>
            <a:off x="9556548" y="1558330"/>
            <a:ext cx="572293" cy="38893"/>
          </a:xfrm>
          <a:custGeom>
            <a:avLst/>
            <a:gdLst/>
            <a:ahLst/>
            <a:cxnLst/>
            <a:rect l="l" t="t" r="r" b="b"/>
            <a:pathLst>
              <a:path w="429220" h="29170">
                <a:moveTo>
                  <a:pt x="0" y="0"/>
                </a:moveTo>
                <a:lnTo>
                  <a:pt x="429220" y="0"/>
                </a:lnTo>
                <a:lnTo>
                  <a:pt x="429220" y="-36576000"/>
                </a:lnTo>
                <a:lnTo>
                  <a:pt x="429220" y="0"/>
                </a:lnTo>
                <a:lnTo>
                  <a:pt x="428659" y="5659"/>
                </a:lnTo>
                <a:lnTo>
                  <a:pt x="426997" y="11138"/>
                </a:lnTo>
                <a:lnTo>
                  <a:pt x="424298" y="16189"/>
                </a:lnTo>
                <a:lnTo>
                  <a:pt x="420665" y="20615"/>
                </a:lnTo>
                <a:lnTo>
                  <a:pt x="416239" y="24248"/>
                </a:lnTo>
                <a:lnTo>
                  <a:pt x="411188" y="26947"/>
                </a:lnTo>
                <a:lnTo>
                  <a:pt x="405709" y="28609"/>
                </a:lnTo>
                <a:lnTo>
                  <a:pt x="400010" y="29170"/>
                </a:lnTo>
                <a:lnTo>
                  <a:pt x="29210" y="29170"/>
                </a:lnTo>
                <a:lnTo>
                  <a:pt x="0" y="0"/>
                </a:lnTo>
                <a:lnTo>
                  <a:pt x="561" y="5659"/>
                </a:lnTo>
                <a:lnTo>
                  <a:pt x="2223" y="11138"/>
                </a:lnTo>
                <a:lnTo>
                  <a:pt x="4923" y="16189"/>
                </a:lnTo>
                <a:lnTo>
                  <a:pt x="8555" y="20615"/>
                </a:lnTo>
                <a:lnTo>
                  <a:pt x="12982" y="24248"/>
                </a:lnTo>
                <a:lnTo>
                  <a:pt x="18032" y="26947"/>
                </a:lnTo>
                <a:lnTo>
                  <a:pt x="23511" y="28609"/>
                </a:lnTo>
                <a:lnTo>
                  <a:pt x="29210" y="2917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1"/>
            <a:ext cx="1207008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b="1" kern="0" spc="124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VALUE CREATION</a:t>
            </a:r>
            <a:endParaRPr lang="en-US" sz="827" dirty="0"/>
          </a:p>
        </p:txBody>
      </p:sp>
      <p:sp>
        <p:nvSpPr>
          <p:cNvPr id="3" name="Text 1"/>
          <p:cNvSpPr/>
          <p:nvPr/>
        </p:nvSpPr>
        <p:spPr>
          <a:xfrm>
            <a:off x="609600" y="653455"/>
            <a:ext cx="11740896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29"/>
              </a:lnSpc>
              <a:spcAft>
                <a:spcPts val="307"/>
              </a:spcAft>
            </a:pPr>
            <a:r>
              <a:rPr lang="en-US" sz="2547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$20M–$35M Annual Value Opportunity at 7–12x ROI</a:t>
            </a:r>
            <a:endParaRPr lang="en-US" sz="2547" dirty="0"/>
          </a:p>
        </p:txBody>
      </p:sp>
      <p:sp>
        <p:nvSpPr>
          <p:cNvPr id="4" name="Text 2"/>
          <p:cNvSpPr/>
          <p:nvPr/>
        </p:nvSpPr>
        <p:spPr>
          <a:xfrm>
            <a:off x="609600" y="1064220"/>
            <a:ext cx="1207008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0"/>
              </a:lnSpc>
              <a:spcAft>
                <a:spcPts val="1800"/>
              </a:spcAft>
            </a:pPr>
            <a:r>
              <a:rPr lang="en-US" sz="112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value drivers across four operational improvement categories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1427758" y="2973189"/>
            <a:ext cx="5127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$6–8M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41624" y="3259337"/>
            <a:ext cx="838200" cy="1237655"/>
          </a:xfrm>
          <a:prstGeom prst="roundRect">
            <a:avLst>
              <a:gd name="adj" fmla="val 4646"/>
            </a:avLst>
          </a:prstGeom>
          <a:gradFill rotWithShape="1">
            <a:gsLst>
              <a:gs pos="0">
                <a:srgbClr val="2B5EA7"/>
              </a:gs>
              <a:gs pos="100000">
                <a:srgbClr val="1E4A8A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22097" y="4591646"/>
            <a:ext cx="677251" cy="31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79"/>
              </a:lnSpc>
            </a:pPr>
            <a:r>
              <a:rPr lang="en-US" sz="907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br>
              <a:rPr sz="2400"/>
            </a:br>
            <a:r>
              <a:rPr lang="en-US" sz="907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907" dirty="0"/>
          </a:p>
        </p:txBody>
      </p:sp>
      <p:sp>
        <p:nvSpPr>
          <p:cNvPr id="8" name="Text 6"/>
          <p:cNvSpPr/>
          <p:nvPr/>
        </p:nvSpPr>
        <p:spPr>
          <a:xfrm>
            <a:off x="2691409" y="3917355"/>
            <a:ext cx="167103" cy="4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60"/>
              </a:lnSpc>
            </a:pPr>
            <a:r>
              <a:rPr lang="en-US" sz="2107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107" dirty="0"/>
          </a:p>
        </p:txBody>
      </p:sp>
      <p:sp>
        <p:nvSpPr>
          <p:cNvPr id="9" name="Text 7"/>
          <p:cNvSpPr/>
          <p:nvPr/>
        </p:nvSpPr>
        <p:spPr>
          <a:xfrm>
            <a:off x="3645298" y="3257551"/>
            <a:ext cx="5127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$4–6M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59361" y="3543698"/>
            <a:ext cx="838200" cy="953293"/>
          </a:xfrm>
          <a:prstGeom prst="roundRect">
            <a:avLst>
              <a:gd name="adj" fmla="val 4646"/>
            </a:avLst>
          </a:prstGeom>
          <a:gradFill rotWithShape="1">
            <a:gsLst>
              <a:gs pos="0">
                <a:srgbClr val="3D7AC4"/>
              </a:gs>
              <a:gs pos="100000">
                <a:srgbClr val="2B5EA7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06247" y="4591646"/>
            <a:ext cx="944428" cy="31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79"/>
              </a:lnSpc>
            </a:pPr>
            <a:r>
              <a:rPr lang="en-US" sz="907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Misroute/Rework</a:t>
            </a:r>
            <a:br>
              <a:rPr sz="2400"/>
            </a:br>
            <a:r>
              <a:rPr lang="en-US" sz="907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</a:t>
            </a:r>
            <a:endParaRPr lang="en-US" sz="907" dirty="0"/>
          </a:p>
        </p:txBody>
      </p:sp>
      <p:sp>
        <p:nvSpPr>
          <p:cNvPr id="12" name="Text 10"/>
          <p:cNvSpPr/>
          <p:nvPr/>
        </p:nvSpPr>
        <p:spPr>
          <a:xfrm>
            <a:off x="4909146" y="3917355"/>
            <a:ext cx="167103" cy="4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60"/>
              </a:lnSpc>
            </a:pPr>
            <a:r>
              <a:rPr lang="en-US" sz="2107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107" dirty="0"/>
          </a:p>
        </p:txBody>
      </p:sp>
      <p:sp>
        <p:nvSpPr>
          <p:cNvPr id="13" name="Text 11"/>
          <p:cNvSpPr/>
          <p:nvPr/>
        </p:nvSpPr>
        <p:spPr>
          <a:xfrm>
            <a:off x="5863035" y="2918221"/>
            <a:ext cx="5127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$5–8M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76900" y="3204369"/>
            <a:ext cx="838200" cy="1143000"/>
          </a:xfrm>
          <a:prstGeom prst="roundRect">
            <a:avLst>
              <a:gd name="adj" fmla="val 4646"/>
            </a:avLst>
          </a:prstGeom>
          <a:gradFill rotWithShape="1">
            <a:gsLst>
              <a:gs pos="0">
                <a:srgbClr val="5B8FD4"/>
              </a:gs>
              <a:gs pos="100000">
                <a:srgbClr val="4478C0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61446" y="4442024"/>
            <a:ext cx="1069109" cy="471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79"/>
              </a:lnSpc>
            </a:pPr>
            <a:r>
              <a:rPr lang="en-US" sz="907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br>
              <a:rPr sz="2400"/>
            </a:br>
            <a:r>
              <a:rPr lang="en-US" sz="907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Optimization</a:t>
            </a:r>
            <a:endParaRPr lang="en-US" sz="907" dirty="0"/>
          </a:p>
        </p:txBody>
      </p:sp>
      <p:sp>
        <p:nvSpPr>
          <p:cNvPr id="16" name="Text 14"/>
          <p:cNvSpPr/>
          <p:nvPr/>
        </p:nvSpPr>
        <p:spPr>
          <a:xfrm>
            <a:off x="7126685" y="3917355"/>
            <a:ext cx="167103" cy="4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60"/>
              </a:lnSpc>
            </a:pPr>
            <a:r>
              <a:rPr lang="en-US" sz="2107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107" dirty="0"/>
          </a:p>
        </p:txBody>
      </p:sp>
      <p:sp>
        <p:nvSpPr>
          <p:cNvPr id="17" name="Text 15"/>
          <p:cNvSpPr/>
          <p:nvPr/>
        </p:nvSpPr>
        <p:spPr>
          <a:xfrm>
            <a:off x="8038108" y="2305844"/>
            <a:ext cx="6059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$8–15M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94439" y="2591991"/>
            <a:ext cx="838200" cy="1905000"/>
          </a:xfrm>
          <a:prstGeom prst="roundRect">
            <a:avLst>
              <a:gd name="adj" fmla="val 4646"/>
            </a:avLst>
          </a:prstGeom>
          <a:gradFill rotWithShape="1">
            <a:gsLst>
              <a:gs pos="0">
                <a:srgbClr val="132D54"/>
              </a:gs>
              <a:gs pos="100000">
                <a:srgbClr val="1A3A6E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838087" y="4591646"/>
            <a:ext cx="950904" cy="31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79"/>
              </a:lnSpc>
            </a:pPr>
            <a:r>
              <a:rPr lang="en-US" sz="907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Incident</a:t>
            </a:r>
            <a:br>
              <a:rPr sz="2400"/>
            </a:br>
            <a:r>
              <a:rPr lang="en-US" sz="907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7" dirty="0"/>
          </a:p>
        </p:txBody>
      </p:sp>
      <p:sp>
        <p:nvSpPr>
          <p:cNvPr id="20" name="Text 18"/>
          <p:cNvSpPr/>
          <p:nvPr/>
        </p:nvSpPr>
        <p:spPr>
          <a:xfrm>
            <a:off x="9344225" y="3917355"/>
            <a:ext cx="167103" cy="4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60"/>
              </a:lnSpc>
            </a:pPr>
            <a:r>
              <a:rPr lang="en-US" sz="2107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107" dirty="0"/>
          </a:p>
        </p:txBody>
      </p:sp>
      <p:sp>
        <p:nvSpPr>
          <p:cNvPr id="21" name="Text 19"/>
          <p:cNvSpPr/>
          <p:nvPr/>
        </p:nvSpPr>
        <p:spPr>
          <a:xfrm>
            <a:off x="10103445" y="1668662"/>
            <a:ext cx="941011" cy="271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40"/>
              </a:lnSpc>
            </a:pPr>
            <a:r>
              <a:rPr lang="en-US" sz="1427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$20–$35M</a:t>
            </a:r>
            <a:endParaRPr lang="en-US" sz="1427" dirty="0"/>
          </a:p>
        </p:txBody>
      </p:sp>
      <p:sp>
        <p:nvSpPr>
          <p:cNvPr id="22" name="Text 20"/>
          <p:cNvSpPr/>
          <p:nvPr/>
        </p:nvSpPr>
        <p:spPr>
          <a:xfrm>
            <a:off x="10111979" y="1997870"/>
            <a:ext cx="838200" cy="2477293"/>
          </a:xfrm>
          <a:prstGeom prst="roundRect">
            <a:avLst>
              <a:gd name="adj" fmla="val 4646"/>
            </a:avLst>
          </a:prstGeom>
          <a:gradFill rotWithShape="1">
            <a:gsLst>
              <a:gs pos="0">
                <a:srgbClr val="2B5EA7">
                  <a:alpha val="15000"/>
                </a:srgbClr>
              </a:gs>
              <a:gs pos="100000">
                <a:srgbClr val="1A3A6E">
                  <a:alpha val="15000"/>
                </a:srgbClr>
              </a:gs>
            </a:gsLst>
            <a:lin ang="5400000" scaled="1"/>
          </a:gradFill>
          <a:ln w="19050">
            <a:solidFill>
              <a:srgbClr val="2B5EA7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157029" y="4569818"/>
            <a:ext cx="748296" cy="33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65"/>
              </a:lnSpc>
            </a:pPr>
            <a:r>
              <a:rPr lang="en-US" sz="973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</a:t>
            </a:r>
            <a:br>
              <a:rPr sz="2400"/>
            </a:br>
            <a:r>
              <a:rPr lang="en-US" sz="973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73" dirty="0"/>
          </a:p>
        </p:txBody>
      </p:sp>
      <p:sp>
        <p:nvSpPr>
          <p:cNvPr id="24" name="Text 22"/>
          <p:cNvSpPr/>
          <p:nvPr/>
        </p:nvSpPr>
        <p:spPr>
          <a:xfrm>
            <a:off x="4392811" y="5082183"/>
            <a:ext cx="3474303" cy="443309"/>
          </a:xfrm>
          <a:prstGeom prst="roundRect">
            <a:avLst>
              <a:gd name="adj" fmla="val 17189"/>
            </a:avLst>
          </a:prstGeom>
          <a:gradFill rotWithShape="1">
            <a:gsLst>
              <a:gs pos="0">
                <a:srgbClr val="EBF2FA"/>
              </a:gs>
              <a:gs pos="100000">
                <a:srgbClr val="D6E5F5"/>
              </a:gs>
            </a:gsLst>
            <a:lin ang="2700000" scaled="1"/>
          </a:gradFill>
          <a:ln w="9525">
            <a:solidFill>
              <a:srgbClr val="2B5EA7"/>
            </a:solidFill>
          </a:ln>
        </p:spPr>
        <p:txBody>
          <a:bodyPr wrap="none" lIns="443533" tIns="94827" rIns="209973" bIns="94827" rtlCol="0" anchor="ctr"/>
          <a:lstStyle/>
          <a:p>
            <a:r>
              <a:rPr lang="en-US" sz="1200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7–12x Return vs. Contract Investment</a:t>
            </a:r>
            <a:endParaRPr lang="en-US" sz="12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5747" y="5215347"/>
            <a:ext cx="176784" cy="17678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09600" y="6109693"/>
            <a:ext cx="11192256" cy="443508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228600" tIns="115147" rIns="228600" bIns="115147" rtlCol="0" anchor="t"/>
          <a:lstStyle/>
          <a:p>
            <a:pPr>
              <a:lnSpc>
                <a:spcPts val="1680"/>
              </a:lnSpc>
            </a:pPr>
            <a:r>
              <a:rPr lang="en-US" sz="112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</a:t>
            </a:r>
            <a:r>
              <a:rPr lang="en-US" sz="112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dollar invested returns 7–12x in operational savings and public safety outcomes.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609601" y="6109693"/>
            <a:ext cx="38100" cy="443508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293" y="452835"/>
            <a:ext cx="304800" cy="28773"/>
          </a:xfrm>
          <a:prstGeom prst="roundRect">
            <a:avLst>
              <a:gd name="adj" fmla="val 64736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1748" y="381000"/>
            <a:ext cx="2052280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INTELLIGENCE</a:t>
            </a:r>
            <a:endParaRPr lang="en-US" sz="907" dirty="0"/>
          </a:p>
        </p:txBody>
      </p:sp>
      <p:sp>
        <p:nvSpPr>
          <p:cNvPr id="4" name="Text 2"/>
          <p:cNvSpPr/>
          <p:nvPr/>
        </p:nvSpPr>
        <p:spPr>
          <a:xfrm>
            <a:off x="572294" y="611189"/>
            <a:ext cx="10191751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33"/>
              </a:lnSpc>
              <a:spcAft>
                <a:spcPts val="1800"/>
              </a:spcAft>
            </a:pPr>
            <a:r>
              <a:rPr lang="en-US" sz="1947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Responding to Complaints to Preventing the Conditions That Generate Them</a:t>
            </a:r>
            <a:endParaRPr lang="en-US" sz="1947" dirty="0"/>
          </a:p>
        </p:txBody>
      </p:sp>
      <p:sp>
        <p:nvSpPr>
          <p:cNvPr id="5" name="Text 3"/>
          <p:cNvSpPr/>
          <p:nvPr/>
        </p:nvSpPr>
        <p:spPr>
          <a:xfrm>
            <a:off x="572293" y="1148755"/>
            <a:ext cx="3593307" cy="1153319"/>
          </a:xfrm>
          <a:prstGeom prst="roundRect">
            <a:avLst>
              <a:gd name="adj" fmla="val 660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72294" y="1148755"/>
            <a:ext cx="38100" cy="1153319"/>
          </a:xfrm>
          <a:custGeom>
            <a:avLst/>
            <a:gdLst/>
            <a:ahLst/>
            <a:cxnLst/>
            <a:rect l="l" t="t" r="r" b="b"/>
            <a:pathLst>
              <a:path w="28575" h="864989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57332"/>
                </a:lnTo>
                <a:lnTo>
                  <a:pt x="25003" y="855091"/>
                </a:lnTo>
                <a:lnTo>
                  <a:pt x="21431" y="852452"/>
                </a:lnTo>
                <a:lnTo>
                  <a:pt x="17859" y="849340"/>
                </a:lnTo>
                <a:lnTo>
                  <a:pt x="14288" y="845640"/>
                </a:lnTo>
                <a:lnTo>
                  <a:pt x="10716" y="841155"/>
                </a:lnTo>
                <a:lnTo>
                  <a:pt x="7144" y="835507"/>
                </a:lnTo>
                <a:lnTo>
                  <a:pt x="3572" y="827726"/>
                </a:lnTo>
                <a:lnTo>
                  <a:pt x="0" y="807839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0340" y="1319609"/>
            <a:ext cx="457200" cy="457200"/>
          </a:xfrm>
          <a:prstGeom prst="ellipse">
            <a:avLst/>
          </a:prstGeom>
          <a:solidFill>
            <a:srgbClr val="E8EF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548" y="1459817"/>
            <a:ext cx="176784" cy="1767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8395" y="1319609"/>
            <a:ext cx="275798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0"/>
              </a:lnSpc>
              <a:spcAft>
                <a:spcPts val="307"/>
              </a:spcAft>
            </a:pPr>
            <a:r>
              <a:rPr lang="en-US" sz="112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Pothole Investment Prioritization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1448395" y="1571824"/>
            <a:ext cx="2557403" cy="36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3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repair investments by cost-risk severity, not just complaint volume</a:t>
            </a:r>
            <a:endParaRPr lang="en-US" sz="973" dirty="0"/>
          </a:p>
        </p:txBody>
      </p:sp>
      <p:sp>
        <p:nvSpPr>
          <p:cNvPr id="11" name="Text 8"/>
          <p:cNvSpPr/>
          <p:nvPr/>
        </p:nvSpPr>
        <p:spPr>
          <a:xfrm>
            <a:off x="4299347" y="1148755"/>
            <a:ext cx="3593307" cy="1153319"/>
          </a:xfrm>
          <a:prstGeom prst="roundRect">
            <a:avLst>
              <a:gd name="adj" fmla="val 660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299347" y="1148755"/>
            <a:ext cx="38100" cy="1153319"/>
          </a:xfrm>
          <a:custGeom>
            <a:avLst/>
            <a:gdLst/>
            <a:ahLst/>
            <a:cxnLst/>
            <a:rect l="l" t="t" r="r" b="b"/>
            <a:pathLst>
              <a:path w="28575" h="864989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57332"/>
                </a:lnTo>
                <a:lnTo>
                  <a:pt x="25003" y="855091"/>
                </a:lnTo>
                <a:lnTo>
                  <a:pt x="21431" y="852452"/>
                </a:lnTo>
                <a:lnTo>
                  <a:pt x="17859" y="849340"/>
                </a:lnTo>
                <a:lnTo>
                  <a:pt x="14288" y="845640"/>
                </a:lnTo>
                <a:lnTo>
                  <a:pt x="10716" y="841155"/>
                </a:lnTo>
                <a:lnTo>
                  <a:pt x="7144" y="835507"/>
                </a:lnTo>
                <a:lnTo>
                  <a:pt x="3572" y="827726"/>
                </a:lnTo>
                <a:lnTo>
                  <a:pt x="0" y="807839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547393" y="1319609"/>
            <a:ext cx="457200" cy="457200"/>
          </a:xfrm>
          <a:prstGeom prst="ellipse">
            <a:avLst/>
          </a:prstGeom>
          <a:solidFill>
            <a:srgbClr val="E8EF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7601" y="1459817"/>
            <a:ext cx="176784" cy="1767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75448" y="1319610"/>
            <a:ext cx="2557403" cy="44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Aft>
                <a:spcPts val="307"/>
              </a:spcAft>
            </a:pPr>
            <a:r>
              <a:rPr lang="en-US" sz="112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Intersection Safety Hotspot Detection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5175448" y="1785144"/>
            <a:ext cx="2557403" cy="36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3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intersections before accidents cluster</a:t>
            </a:r>
            <a:endParaRPr lang="en-US" sz="973" dirty="0"/>
          </a:p>
        </p:txBody>
      </p:sp>
      <p:sp>
        <p:nvSpPr>
          <p:cNvPr id="17" name="Text 13"/>
          <p:cNvSpPr/>
          <p:nvPr/>
        </p:nvSpPr>
        <p:spPr>
          <a:xfrm>
            <a:off x="8026400" y="1148755"/>
            <a:ext cx="3593307" cy="1153319"/>
          </a:xfrm>
          <a:prstGeom prst="roundRect">
            <a:avLst>
              <a:gd name="adj" fmla="val 660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8026401" y="1148755"/>
            <a:ext cx="38100" cy="1153319"/>
          </a:xfrm>
          <a:custGeom>
            <a:avLst/>
            <a:gdLst/>
            <a:ahLst/>
            <a:cxnLst/>
            <a:rect l="l" t="t" r="r" b="b"/>
            <a:pathLst>
              <a:path w="28575" h="864989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57332"/>
                </a:lnTo>
                <a:lnTo>
                  <a:pt x="25003" y="855091"/>
                </a:lnTo>
                <a:lnTo>
                  <a:pt x="21431" y="852452"/>
                </a:lnTo>
                <a:lnTo>
                  <a:pt x="17859" y="849340"/>
                </a:lnTo>
                <a:lnTo>
                  <a:pt x="14288" y="845640"/>
                </a:lnTo>
                <a:lnTo>
                  <a:pt x="10716" y="841155"/>
                </a:lnTo>
                <a:lnTo>
                  <a:pt x="7144" y="835507"/>
                </a:lnTo>
                <a:lnTo>
                  <a:pt x="3572" y="827726"/>
                </a:lnTo>
                <a:lnTo>
                  <a:pt x="0" y="807839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274447" y="1319609"/>
            <a:ext cx="457200" cy="457200"/>
          </a:xfrm>
          <a:prstGeom prst="ellipse">
            <a:avLst/>
          </a:prstGeom>
          <a:solidFill>
            <a:srgbClr val="E8EF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4655" y="1459817"/>
            <a:ext cx="176784" cy="1767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02501" y="1319609"/>
            <a:ext cx="275798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0"/>
              </a:lnSpc>
              <a:spcAft>
                <a:spcPts val="307"/>
              </a:spcAft>
            </a:pPr>
            <a:r>
              <a:rPr lang="en-US" sz="112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 Equity Analysis</a:t>
            </a:r>
            <a:endParaRPr lang="en-US" sz="1120" dirty="0"/>
          </a:p>
        </p:txBody>
      </p:sp>
      <p:sp>
        <p:nvSpPr>
          <p:cNvPr id="22" name="Text 17"/>
          <p:cNvSpPr/>
          <p:nvPr/>
        </p:nvSpPr>
        <p:spPr>
          <a:xfrm>
            <a:off x="8902501" y="1571824"/>
            <a:ext cx="2557403" cy="36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3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underserved neighborhoods receive proportional service attention</a:t>
            </a:r>
            <a:endParaRPr lang="en-US" sz="973" dirty="0"/>
          </a:p>
        </p:txBody>
      </p:sp>
      <p:sp>
        <p:nvSpPr>
          <p:cNvPr id="23" name="Text 18"/>
          <p:cNvSpPr/>
          <p:nvPr/>
        </p:nvSpPr>
        <p:spPr>
          <a:xfrm>
            <a:off x="572293" y="2472929"/>
            <a:ext cx="3593307" cy="1153319"/>
          </a:xfrm>
          <a:prstGeom prst="roundRect">
            <a:avLst>
              <a:gd name="adj" fmla="val 660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572294" y="2472929"/>
            <a:ext cx="38100" cy="1153319"/>
          </a:xfrm>
          <a:custGeom>
            <a:avLst/>
            <a:gdLst/>
            <a:ahLst/>
            <a:cxnLst/>
            <a:rect l="l" t="t" r="r" b="b"/>
            <a:pathLst>
              <a:path w="28575" h="864989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57332"/>
                </a:lnTo>
                <a:lnTo>
                  <a:pt x="25003" y="855091"/>
                </a:lnTo>
                <a:lnTo>
                  <a:pt x="21431" y="852452"/>
                </a:lnTo>
                <a:lnTo>
                  <a:pt x="17859" y="849340"/>
                </a:lnTo>
                <a:lnTo>
                  <a:pt x="14288" y="845640"/>
                </a:lnTo>
                <a:lnTo>
                  <a:pt x="10716" y="841155"/>
                </a:lnTo>
                <a:lnTo>
                  <a:pt x="7144" y="835507"/>
                </a:lnTo>
                <a:lnTo>
                  <a:pt x="3572" y="827726"/>
                </a:lnTo>
                <a:lnTo>
                  <a:pt x="0" y="807839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820340" y="2643783"/>
            <a:ext cx="457200" cy="457200"/>
          </a:xfrm>
          <a:prstGeom prst="ellipse">
            <a:avLst/>
          </a:prstGeom>
          <a:solidFill>
            <a:srgbClr val="E8EF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548" y="2783991"/>
            <a:ext cx="176784" cy="1767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48395" y="2643783"/>
            <a:ext cx="2557403" cy="447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Aft>
                <a:spcPts val="307"/>
              </a:spcAft>
            </a:pPr>
            <a:r>
              <a:rPr lang="en-US" sz="112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Predictive Infrastructure Maintenance</a:t>
            </a:r>
            <a:endParaRPr lang="en-US" sz="1120" dirty="0"/>
          </a:p>
        </p:txBody>
      </p:sp>
      <p:sp>
        <p:nvSpPr>
          <p:cNvPr id="28" name="Text 22"/>
          <p:cNvSpPr/>
          <p:nvPr/>
        </p:nvSpPr>
        <p:spPr>
          <a:xfrm>
            <a:off x="1448395" y="3109317"/>
            <a:ext cx="2557403" cy="36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3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asset failures using complaint patterns and inspection signals</a:t>
            </a:r>
            <a:endParaRPr lang="en-US" sz="973" dirty="0"/>
          </a:p>
        </p:txBody>
      </p:sp>
      <p:sp>
        <p:nvSpPr>
          <p:cNvPr id="29" name="Text 23"/>
          <p:cNvSpPr/>
          <p:nvPr/>
        </p:nvSpPr>
        <p:spPr>
          <a:xfrm>
            <a:off x="4299347" y="2472929"/>
            <a:ext cx="3593307" cy="1153319"/>
          </a:xfrm>
          <a:prstGeom prst="roundRect">
            <a:avLst>
              <a:gd name="adj" fmla="val 660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4299347" y="2472929"/>
            <a:ext cx="38100" cy="1153319"/>
          </a:xfrm>
          <a:custGeom>
            <a:avLst/>
            <a:gdLst/>
            <a:ahLst/>
            <a:cxnLst/>
            <a:rect l="l" t="t" r="r" b="b"/>
            <a:pathLst>
              <a:path w="28575" h="864989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57332"/>
                </a:lnTo>
                <a:lnTo>
                  <a:pt x="25003" y="855091"/>
                </a:lnTo>
                <a:lnTo>
                  <a:pt x="21431" y="852452"/>
                </a:lnTo>
                <a:lnTo>
                  <a:pt x="17859" y="849340"/>
                </a:lnTo>
                <a:lnTo>
                  <a:pt x="14288" y="845640"/>
                </a:lnTo>
                <a:lnTo>
                  <a:pt x="10716" y="841155"/>
                </a:lnTo>
                <a:lnTo>
                  <a:pt x="7144" y="835507"/>
                </a:lnTo>
                <a:lnTo>
                  <a:pt x="3572" y="827726"/>
                </a:lnTo>
                <a:lnTo>
                  <a:pt x="0" y="807839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4547393" y="2643783"/>
            <a:ext cx="457200" cy="457200"/>
          </a:xfrm>
          <a:prstGeom prst="ellipse">
            <a:avLst/>
          </a:prstGeom>
          <a:solidFill>
            <a:srgbClr val="E8EF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7601" y="2783991"/>
            <a:ext cx="176784" cy="1767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75448" y="2643783"/>
            <a:ext cx="275798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0"/>
              </a:lnSpc>
              <a:spcAft>
                <a:spcPts val="307"/>
              </a:spcAft>
            </a:pPr>
            <a:r>
              <a:rPr lang="en-US" sz="1120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Capital Planning Support</a:t>
            </a:r>
            <a:endParaRPr lang="en-US" sz="1120" dirty="0"/>
          </a:p>
        </p:txBody>
      </p:sp>
      <p:sp>
        <p:nvSpPr>
          <p:cNvPr id="34" name="Text 27"/>
          <p:cNvSpPr/>
          <p:nvPr/>
        </p:nvSpPr>
        <p:spPr>
          <a:xfrm>
            <a:off x="5175448" y="2895997"/>
            <a:ext cx="2557403" cy="36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3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long-term infrastructure budgets with data-driven demand intelligence</a:t>
            </a:r>
            <a:endParaRPr lang="en-US" sz="973" dirty="0"/>
          </a:p>
        </p:txBody>
      </p:sp>
      <p:sp>
        <p:nvSpPr>
          <p:cNvPr id="35" name="Text 28"/>
          <p:cNvSpPr/>
          <p:nvPr/>
        </p:nvSpPr>
        <p:spPr>
          <a:xfrm>
            <a:off x="572294" y="3836193"/>
            <a:ext cx="11047412" cy="53340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1A2744"/>
              </a:gs>
              <a:gs pos="100000">
                <a:srgbClr val="2B5EA7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6" name="Text 29"/>
          <p:cNvSpPr/>
          <p:nvPr/>
        </p:nvSpPr>
        <p:spPr>
          <a:xfrm>
            <a:off x="2776538" y="4002485"/>
            <a:ext cx="477381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53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53" dirty="0"/>
          </a:p>
        </p:txBody>
      </p:sp>
      <p:sp>
        <p:nvSpPr>
          <p:cNvPr id="37" name="Text 30"/>
          <p:cNvSpPr/>
          <p:nvPr/>
        </p:nvSpPr>
        <p:spPr>
          <a:xfrm>
            <a:off x="3344268" y="3988593"/>
            <a:ext cx="19291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complaints</a:t>
            </a:r>
            <a:endParaRPr lang="en-US" sz="12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50457" y="4017169"/>
            <a:ext cx="228600" cy="171451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631457" y="4002485"/>
            <a:ext cx="223739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53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053" dirty="0"/>
          </a:p>
        </p:txBody>
      </p:sp>
      <p:sp>
        <p:nvSpPr>
          <p:cNvPr id="40" name="Text 32"/>
          <p:cNvSpPr/>
          <p:nvPr/>
        </p:nvSpPr>
        <p:spPr>
          <a:xfrm>
            <a:off x="5968603" y="3988593"/>
            <a:ext cx="37913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conditions that generate complaints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572294" y="6159699"/>
            <a:ext cx="11268361" cy="430808"/>
          </a:xfrm>
          <a:prstGeom prst="roundRect">
            <a:avLst>
              <a:gd name="adj" fmla="val 9040"/>
            </a:avLst>
          </a:prstGeom>
          <a:solidFill>
            <a:srgbClr val="F2F5F8"/>
          </a:solidFill>
          <a:ln/>
        </p:spPr>
        <p:txBody>
          <a:bodyPr wrap="none" lIns="228600" tIns="115147" rIns="228600" bIns="115147" rtlCol="0" anchor="t"/>
          <a:lstStyle/>
          <a:p>
            <a:r>
              <a:rPr lang="en-US" sz="827" b="1" kern="0" spc="10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r>
              <a:rPr lang="en-US" sz="105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Complaint signals become planning intelligence — that changes city economics.</a:t>
            </a:r>
            <a:endParaRPr lang="en-US" sz="1053" dirty="0"/>
          </a:p>
        </p:txBody>
      </p:sp>
      <p:sp>
        <p:nvSpPr>
          <p:cNvPr id="42" name="Text 34"/>
          <p:cNvSpPr/>
          <p:nvPr/>
        </p:nvSpPr>
        <p:spPr>
          <a:xfrm>
            <a:off x="572294" y="6159699"/>
            <a:ext cx="38100" cy="430808"/>
          </a:xfrm>
          <a:custGeom>
            <a:avLst/>
            <a:gdLst/>
            <a:ahLst/>
            <a:cxnLst/>
            <a:rect l="l" t="t" r="r" b="b"/>
            <a:pathLst>
              <a:path w="28575" h="323106">
                <a:moveTo>
                  <a:pt x="0" y="29210"/>
                </a:moveTo>
                <a:lnTo>
                  <a:pt x="3572" y="15213"/>
                </a:lnTo>
                <a:lnTo>
                  <a:pt x="7144" y="10071"/>
                </a:lnTo>
                <a:lnTo>
                  <a:pt x="10716" y="6601"/>
                </a:lnTo>
                <a:lnTo>
                  <a:pt x="14288" y="4099"/>
                </a:lnTo>
                <a:lnTo>
                  <a:pt x="17859" y="2296"/>
                </a:lnTo>
                <a:lnTo>
                  <a:pt x="21431" y="1055"/>
                </a:lnTo>
                <a:lnTo>
                  <a:pt x="25003" y="305"/>
                </a:lnTo>
                <a:lnTo>
                  <a:pt x="28575" y="6400800"/>
                </a:lnTo>
                <a:lnTo>
                  <a:pt x="28575" y="323099"/>
                </a:lnTo>
                <a:lnTo>
                  <a:pt x="25003" y="322801"/>
                </a:lnTo>
                <a:lnTo>
                  <a:pt x="21431" y="322051"/>
                </a:lnTo>
                <a:lnTo>
                  <a:pt x="17859" y="320810"/>
                </a:lnTo>
                <a:lnTo>
                  <a:pt x="14288" y="319006"/>
                </a:lnTo>
                <a:lnTo>
                  <a:pt x="10716" y="316505"/>
                </a:lnTo>
                <a:lnTo>
                  <a:pt x="7144" y="313035"/>
                </a:lnTo>
                <a:lnTo>
                  <a:pt x="3572" y="307893"/>
                </a:lnTo>
                <a:lnTo>
                  <a:pt x="0" y="293896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294" y="419894"/>
            <a:ext cx="12152153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b="1" kern="0" spc="18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STRATEGY</a:t>
            </a:r>
            <a:endParaRPr lang="en-US" sz="827" dirty="0"/>
          </a:p>
        </p:txBody>
      </p:sp>
      <p:sp>
        <p:nvSpPr>
          <p:cNvPr id="3" name="Text 1"/>
          <p:cNvSpPr/>
          <p:nvPr/>
        </p:nvSpPr>
        <p:spPr>
          <a:xfrm>
            <a:off x="572294" y="653456"/>
            <a:ext cx="11820732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4"/>
              </a:lnSpc>
              <a:spcAft>
                <a:spcPts val="307"/>
              </a:spcAft>
            </a:pPr>
            <a:r>
              <a:rPr lang="en-US" sz="2253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UrbanPulse: AI Operating System for City Operations</a:t>
            </a:r>
            <a:endParaRPr lang="en-US" sz="2253" dirty="0"/>
          </a:p>
        </p:txBody>
      </p:sp>
      <p:sp>
        <p:nvSpPr>
          <p:cNvPr id="4" name="Text 2"/>
          <p:cNvSpPr/>
          <p:nvPr/>
        </p:nvSpPr>
        <p:spPr>
          <a:xfrm>
            <a:off x="572294" y="1035646"/>
            <a:ext cx="12152153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0"/>
              </a:lnSpc>
              <a:spcAft>
                <a:spcPts val="1947"/>
              </a:spcAft>
            </a:pPr>
            <a:r>
              <a:rPr lang="en-US" sz="105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purpose-built AI models — integrated into a single intelligence platform</a:t>
            </a:r>
            <a:endParaRPr lang="en-US" sz="1053" dirty="0"/>
          </a:p>
        </p:txBody>
      </p:sp>
      <p:sp>
        <p:nvSpPr>
          <p:cNvPr id="5" name="Text 3"/>
          <p:cNvSpPr/>
          <p:nvPr/>
        </p:nvSpPr>
        <p:spPr>
          <a:xfrm>
            <a:off x="572293" y="1483321"/>
            <a:ext cx="3593307" cy="822721"/>
          </a:xfrm>
          <a:prstGeom prst="roundRect">
            <a:avLst>
              <a:gd name="adj" fmla="val 11526"/>
            </a:avLst>
          </a:prstGeom>
          <a:solidFill>
            <a:srgbClr val="F2F5F8"/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4940" y="168731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467" y="1772840"/>
            <a:ext cx="209947" cy="2099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8341" y="1687315"/>
            <a:ext cx="244911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0"/>
              </a:lnSpc>
            </a:pPr>
            <a:r>
              <a:rPr lang="en-US" sz="105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Traffic Severity Prediction</a:t>
            </a:r>
            <a:endParaRPr lang="en-US" sz="1053" dirty="0"/>
          </a:p>
        </p:txBody>
      </p:sp>
      <p:sp>
        <p:nvSpPr>
          <p:cNvPr id="9" name="Text 6"/>
          <p:cNvSpPr/>
          <p:nvPr/>
        </p:nvSpPr>
        <p:spPr>
          <a:xfrm>
            <a:off x="1328341" y="1916709"/>
            <a:ext cx="2449116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accidents before they happen</a:t>
            </a:r>
            <a:endParaRPr lang="en-US" sz="973" dirty="0"/>
          </a:p>
        </p:txBody>
      </p:sp>
      <p:sp>
        <p:nvSpPr>
          <p:cNvPr id="10" name="Text 7"/>
          <p:cNvSpPr/>
          <p:nvPr/>
        </p:nvSpPr>
        <p:spPr>
          <a:xfrm>
            <a:off x="4299347" y="1483321"/>
            <a:ext cx="3593307" cy="822721"/>
          </a:xfrm>
          <a:prstGeom prst="roundRect">
            <a:avLst>
              <a:gd name="adj" fmla="val 11526"/>
            </a:avLst>
          </a:prstGeom>
          <a:solidFill>
            <a:srgbClr val="F2F5F8"/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521993" y="168731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3872B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7520" y="1772840"/>
            <a:ext cx="209947" cy="2099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55393" y="1687315"/>
            <a:ext cx="279705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0"/>
              </a:lnSpc>
            </a:pPr>
            <a:r>
              <a:rPr lang="en-US" sz="105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Road Surface Computer Vision</a:t>
            </a:r>
            <a:endParaRPr lang="en-US" sz="1053" dirty="0"/>
          </a:p>
        </p:txBody>
      </p:sp>
      <p:sp>
        <p:nvSpPr>
          <p:cNvPr id="14" name="Text 10"/>
          <p:cNvSpPr/>
          <p:nvPr/>
        </p:nvSpPr>
        <p:spPr>
          <a:xfrm>
            <a:off x="5055393" y="1916709"/>
            <a:ext cx="2797056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repairs with visual intelligence</a:t>
            </a:r>
            <a:endParaRPr lang="en-US" sz="973" dirty="0"/>
          </a:p>
        </p:txBody>
      </p:sp>
      <p:sp>
        <p:nvSpPr>
          <p:cNvPr id="15" name="Text 11"/>
          <p:cNvSpPr/>
          <p:nvPr/>
        </p:nvSpPr>
        <p:spPr>
          <a:xfrm>
            <a:off x="8026400" y="1483321"/>
            <a:ext cx="3593307" cy="822721"/>
          </a:xfrm>
          <a:prstGeom prst="roundRect">
            <a:avLst>
              <a:gd name="adj" fmla="val 11526"/>
            </a:avLst>
          </a:prstGeom>
          <a:solidFill>
            <a:srgbClr val="F2F5F8"/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249047" y="168731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4A88C9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4573" y="1772840"/>
            <a:ext cx="209947" cy="2099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82448" y="1687315"/>
            <a:ext cx="2582049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0"/>
              </a:lnSpc>
            </a:pPr>
            <a:r>
              <a:rPr lang="en-US" sz="105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Knowledge Assistant (RAG)</a:t>
            </a:r>
            <a:endParaRPr lang="en-US" sz="1053" dirty="0"/>
          </a:p>
        </p:txBody>
      </p:sp>
      <p:sp>
        <p:nvSpPr>
          <p:cNvPr id="19" name="Text 14"/>
          <p:cNvSpPr/>
          <p:nvPr/>
        </p:nvSpPr>
        <p:spPr>
          <a:xfrm>
            <a:off x="8782448" y="1916709"/>
            <a:ext cx="2582049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 through instant retrieval</a:t>
            </a:r>
            <a:endParaRPr lang="en-US" sz="973" dirty="0"/>
          </a:p>
        </p:txBody>
      </p:sp>
      <p:sp>
        <p:nvSpPr>
          <p:cNvPr id="20" name="Text 15"/>
          <p:cNvSpPr/>
          <p:nvPr/>
        </p:nvSpPr>
        <p:spPr>
          <a:xfrm>
            <a:off x="572293" y="2573537"/>
            <a:ext cx="3593307" cy="822721"/>
          </a:xfrm>
          <a:prstGeom prst="roundRect">
            <a:avLst>
              <a:gd name="adj" fmla="val 11526"/>
            </a:avLst>
          </a:prstGeom>
          <a:solidFill>
            <a:srgbClr val="F2F5F8"/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794940" y="277752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5C9AD6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0467" y="2863056"/>
            <a:ext cx="209947" cy="2099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8341" y="2777530"/>
            <a:ext cx="268289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0"/>
              </a:lnSpc>
            </a:pPr>
            <a:r>
              <a:rPr lang="en-US" sz="105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4: Complaint NLP Classification</a:t>
            </a:r>
            <a:endParaRPr lang="en-US" sz="1053" dirty="0"/>
          </a:p>
        </p:txBody>
      </p:sp>
      <p:sp>
        <p:nvSpPr>
          <p:cNvPr id="24" name="Text 18"/>
          <p:cNvSpPr/>
          <p:nvPr/>
        </p:nvSpPr>
        <p:spPr>
          <a:xfrm>
            <a:off x="1328341" y="3006925"/>
            <a:ext cx="2682895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categorization across 186 types</a:t>
            </a:r>
            <a:endParaRPr lang="en-US" sz="973" dirty="0"/>
          </a:p>
        </p:txBody>
      </p:sp>
      <p:sp>
        <p:nvSpPr>
          <p:cNvPr id="25" name="Text 19"/>
          <p:cNvSpPr/>
          <p:nvPr/>
        </p:nvSpPr>
        <p:spPr>
          <a:xfrm>
            <a:off x="4299347" y="2573537"/>
            <a:ext cx="3593307" cy="822721"/>
          </a:xfrm>
          <a:prstGeom prst="roundRect">
            <a:avLst>
              <a:gd name="adj" fmla="val 11526"/>
            </a:avLst>
          </a:prstGeom>
          <a:solidFill>
            <a:srgbClr val="E8EFF8"/>
          </a:solidFill>
          <a:ln w="9525">
            <a:solidFill>
              <a:srgbClr val="2B5EA7"/>
            </a:solidFill>
          </a:ln>
          <a:effectLst>
            <a:outerShdw blurRad="101600" dist="50800" dir="16200000" algn="bl" rotWithShape="0">
              <a:srgbClr val="2B5EA7">
                <a:alpha val="12000"/>
              </a:srgbClr>
            </a:outerShdw>
          </a:effectLst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4521993" y="277752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7520" y="2863056"/>
            <a:ext cx="209947" cy="2099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55394" y="2777530"/>
            <a:ext cx="19913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0"/>
              </a:lnSpc>
            </a:pPr>
            <a:r>
              <a:rPr lang="en-US" sz="105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5a: Routing Optimizer</a:t>
            </a:r>
            <a:endParaRPr lang="en-US" sz="1053" dirty="0"/>
          </a:p>
        </p:txBody>
      </p:sp>
      <p:sp>
        <p:nvSpPr>
          <p:cNvPr id="29" name="Text 22"/>
          <p:cNvSpPr/>
          <p:nvPr/>
        </p:nvSpPr>
        <p:spPr>
          <a:xfrm>
            <a:off x="5055394" y="3006925"/>
            <a:ext cx="199138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triage &amp; priority routing</a:t>
            </a:r>
            <a:endParaRPr lang="en-US" sz="973" dirty="0"/>
          </a:p>
        </p:txBody>
      </p:sp>
      <p:sp>
        <p:nvSpPr>
          <p:cNvPr id="30" name="Text 23"/>
          <p:cNvSpPr/>
          <p:nvPr/>
        </p:nvSpPr>
        <p:spPr>
          <a:xfrm>
            <a:off x="2801938" y="3624858"/>
            <a:ext cx="944225" cy="353020"/>
          </a:xfrm>
          <a:prstGeom prst="roundRect">
            <a:avLst>
              <a:gd name="adj" fmla="val 21585"/>
            </a:avLst>
          </a:prstGeom>
          <a:solidFill>
            <a:srgbClr val="E8EFF8"/>
          </a:solidFill>
          <a:ln/>
        </p:spPr>
        <p:txBody>
          <a:bodyPr wrap="none" lIns="361527" tIns="76200" rIns="171027" bIns="76200" rtlCol="0" anchor="ctr"/>
          <a:lstStyle/>
          <a:p>
            <a:r>
              <a:rPr lang="en-US" sz="1053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053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41551" y="3712877"/>
            <a:ext cx="176784" cy="1767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822303" y="3673079"/>
            <a:ext cx="18794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020"/>
              </a:lnSpc>
            </a:pPr>
            <a:r>
              <a:rPr lang="en-US" sz="1347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47" dirty="0"/>
          </a:p>
        </p:txBody>
      </p:sp>
      <p:sp>
        <p:nvSpPr>
          <p:cNvPr id="33" name="Text 25"/>
          <p:cNvSpPr/>
          <p:nvPr/>
        </p:nvSpPr>
        <p:spPr>
          <a:xfrm>
            <a:off x="4087812" y="3624858"/>
            <a:ext cx="1299853" cy="353020"/>
          </a:xfrm>
          <a:prstGeom prst="roundRect">
            <a:avLst>
              <a:gd name="adj" fmla="val 21585"/>
            </a:avLst>
          </a:prstGeom>
          <a:solidFill>
            <a:srgbClr val="E8EFF8"/>
          </a:solidFill>
          <a:ln/>
        </p:spPr>
        <p:txBody>
          <a:bodyPr wrap="none" lIns="361527" tIns="76200" rIns="171027" bIns="76200" rtlCol="0" anchor="ctr"/>
          <a:lstStyle/>
          <a:p>
            <a:r>
              <a:rPr lang="en-US" sz="1053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053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27425" y="3712877"/>
            <a:ext cx="176784" cy="17678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456834" y="3673079"/>
            <a:ext cx="18794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020"/>
              </a:lnSpc>
            </a:pPr>
            <a:r>
              <a:rPr lang="en-US" sz="1347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47" dirty="0"/>
          </a:p>
        </p:txBody>
      </p:sp>
      <p:sp>
        <p:nvSpPr>
          <p:cNvPr id="36" name="Text 27"/>
          <p:cNvSpPr/>
          <p:nvPr/>
        </p:nvSpPr>
        <p:spPr>
          <a:xfrm>
            <a:off x="5722343" y="3624858"/>
            <a:ext cx="1125784" cy="353020"/>
          </a:xfrm>
          <a:prstGeom prst="roundRect">
            <a:avLst>
              <a:gd name="adj" fmla="val 21585"/>
            </a:avLst>
          </a:prstGeom>
          <a:solidFill>
            <a:srgbClr val="E8EFF8"/>
          </a:solidFill>
          <a:ln/>
        </p:spPr>
        <p:txBody>
          <a:bodyPr wrap="none" lIns="361527" tIns="76200" rIns="171027" bIns="76200" rtlCol="0" anchor="ctr"/>
          <a:lstStyle/>
          <a:p>
            <a:r>
              <a:rPr lang="en-US" sz="1053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053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61955" y="3712877"/>
            <a:ext cx="176784" cy="17678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20707" y="3673079"/>
            <a:ext cx="18794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020"/>
              </a:lnSpc>
            </a:pPr>
            <a:r>
              <a:rPr lang="en-US" sz="1347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47" dirty="0"/>
          </a:p>
        </p:txBody>
      </p:sp>
      <p:sp>
        <p:nvSpPr>
          <p:cNvPr id="39" name="Text 29"/>
          <p:cNvSpPr/>
          <p:nvPr/>
        </p:nvSpPr>
        <p:spPr>
          <a:xfrm>
            <a:off x="7186216" y="3624858"/>
            <a:ext cx="762464" cy="353020"/>
          </a:xfrm>
          <a:prstGeom prst="roundRect">
            <a:avLst>
              <a:gd name="adj" fmla="val 21585"/>
            </a:avLst>
          </a:prstGeom>
          <a:solidFill>
            <a:srgbClr val="E8EFF8"/>
          </a:solidFill>
          <a:ln/>
        </p:spPr>
        <p:txBody>
          <a:bodyPr wrap="none" lIns="361527" tIns="76200" rIns="171027" bIns="76200" rtlCol="0" anchor="ctr"/>
          <a:lstStyle/>
          <a:p>
            <a:r>
              <a:rPr lang="en-US" sz="1053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3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25828" y="3712877"/>
            <a:ext cx="176784" cy="17678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028385" y="3673079"/>
            <a:ext cx="18794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020"/>
              </a:lnSpc>
            </a:pPr>
            <a:r>
              <a:rPr lang="en-US" sz="1347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47" dirty="0"/>
          </a:p>
        </p:txBody>
      </p:sp>
      <p:sp>
        <p:nvSpPr>
          <p:cNvPr id="42" name="Text 31"/>
          <p:cNvSpPr/>
          <p:nvPr/>
        </p:nvSpPr>
        <p:spPr>
          <a:xfrm>
            <a:off x="8293894" y="3624858"/>
            <a:ext cx="1118092" cy="353020"/>
          </a:xfrm>
          <a:prstGeom prst="roundRect">
            <a:avLst>
              <a:gd name="adj" fmla="val 21585"/>
            </a:avLst>
          </a:prstGeom>
          <a:solidFill>
            <a:srgbClr val="E8EFF8"/>
          </a:solidFill>
          <a:ln/>
        </p:spPr>
        <p:txBody>
          <a:bodyPr wrap="none" lIns="361527" tIns="76200" rIns="171027" bIns="76200" rtlCol="0" anchor="ctr"/>
          <a:lstStyle/>
          <a:p>
            <a:r>
              <a:rPr lang="en-US" sz="1053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053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33507" y="3712877"/>
            <a:ext cx="176784" cy="176784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72294" y="6208118"/>
            <a:ext cx="11268361" cy="382389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228600" tIns="94827" rIns="228600" bIns="94827" rtlCol="0" anchor="t"/>
          <a:lstStyle/>
          <a:p>
            <a:pPr>
              <a:lnSpc>
                <a:spcPts val="1520"/>
              </a:lnSpc>
            </a:pPr>
            <a:r>
              <a:rPr lang="en-US" sz="101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</a:t>
            </a:r>
            <a:r>
              <a:rPr lang="en-US" sz="101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Five integrated AI models forming a unified urban intelligence platform.</a:t>
            </a:r>
            <a:endParaRPr lang="en-US" sz="1013" dirty="0"/>
          </a:p>
        </p:txBody>
      </p:sp>
      <p:sp>
        <p:nvSpPr>
          <p:cNvPr id="45" name="Text 33"/>
          <p:cNvSpPr/>
          <p:nvPr/>
        </p:nvSpPr>
        <p:spPr>
          <a:xfrm>
            <a:off x="572294" y="6208118"/>
            <a:ext cx="38100" cy="382389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6" name="Text 34"/>
          <p:cNvSpPr/>
          <p:nvPr/>
        </p:nvSpPr>
        <p:spPr>
          <a:xfrm>
            <a:off x="6563719" y="2481250"/>
            <a:ext cx="1163836" cy="179189"/>
          </a:xfrm>
          <a:prstGeom prst="roundRect">
            <a:avLst>
              <a:gd name="adj" fmla="val 21735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1" y="381000"/>
            <a:ext cx="11903964" cy="4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60"/>
              </a:lnSpc>
              <a:spcAft>
                <a:spcPts val="307"/>
              </a:spcAft>
            </a:pPr>
            <a:r>
              <a:rPr lang="en-US" sz="2107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Phased Deployment Minimizes Risk and Maximizes Learning</a:t>
            </a:r>
            <a:endParaRPr lang="en-US" sz="2107" dirty="0"/>
          </a:p>
        </p:txBody>
      </p:sp>
      <p:sp>
        <p:nvSpPr>
          <p:cNvPr id="3" name="Text 1"/>
          <p:cNvSpPr/>
          <p:nvPr/>
        </p:nvSpPr>
        <p:spPr>
          <a:xfrm>
            <a:off x="533400" y="821135"/>
            <a:ext cx="1223772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  <a:spcAft>
                <a:spcPts val="1800"/>
              </a:spcAft>
            </a:pPr>
            <a:r>
              <a:rPr lang="en-US" sz="973" b="1" kern="0" spc="4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DEPLOYMENT PATH</a:t>
            </a:r>
            <a:endParaRPr lang="en-US" sz="973" dirty="0"/>
          </a:p>
        </p:txBody>
      </p:sp>
      <p:sp>
        <p:nvSpPr>
          <p:cNvPr id="4" name="Text 2"/>
          <p:cNvSpPr/>
          <p:nvPr/>
        </p:nvSpPr>
        <p:spPr>
          <a:xfrm>
            <a:off x="533401" y="1235075"/>
            <a:ext cx="927100" cy="57547"/>
          </a:xfrm>
          <a:prstGeom prst="roundRect">
            <a:avLst>
              <a:gd name="adj" fmla="val 50023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0501" y="1235075"/>
            <a:ext cx="927100" cy="57547"/>
          </a:xfrm>
          <a:prstGeom prst="rect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387601" y="1235075"/>
            <a:ext cx="927100" cy="57547"/>
          </a:xfrm>
          <a:prstGeom prst="rect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314701" y="1235075"/>
            <a:ext cx="927100" cy="57547"/>
          </a:xfrm>
          <a:prstGeom prst="rect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41801" y="1235075"/>
            <a:ext cx="927100" cy="57547"/>
          </a:xfrm>
          <a:prstGeom prst="rect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68901" y="1235075"/>
            <a:ext cx="927100" cy="57547"/>
          </a:xfrm>
          <a:prstGeom prst="rect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096001" y="1235075"/>
            <a:ext cx="927100" cy="57547"/>
          </a:xfrm>
          <a:prstGeom prst="rect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023101" y="1235075"/>
            <a:ext cx="927100" cy="57547"/>
          </a:xfrm>
          <a:prstGeom prst="rect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0201" y="1235075"/>
            <a:ext cx="927100" cy="57547"/>
          </a:xfrm>
          <a:prstGeom prst="rect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877301" y="1235075"/>
            <a:ext cx="927100" cy="57547"/>
          </a:xfrm>
          <a:prstGeom prst="rect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804401" y="1235075"/>
            <a:ext cx="927100" cy="57547"/>
          </a:xfrm>
          <a:prstGeom prst="rect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731501" y="1235075"/>
            <a:ext cx="927100" cy="57547"/>
          </a:xfrm>
          <a:prstGeom prst="rect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7045" y="1331516"/>
            <a:ext cx="10198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74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47" dirty="0"/>
          </a:p>
        </p:txBody>
      </p:sp>
      <p:sp>
        <p:nvSpPr>
          <p:cNvPr id="17" name="Text 15"/>
          <p:cNvSpPr/>
          <p:nvPr/>
        </p:nvSpPr>
        <p:spPr>
          <a:xfrm>
            <a:off x="1414145" y="1331516"/>
            <a:ext cx="10198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74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47" dirty="0"/>
          </a:p>
        </p:txBody>
      </p:sp>
      <p:sp>
        <p:nvSpPr>
          <p:cNvPr id="18" name="Text 16"/>
          <p:cNvSpPr/>
          <p:nvPr/>
        </p:nvSpPr>
        <p:spPr>
          <a:xfrm>
            <a:off x="2341245" y="1331516"/>
            <a:ext cx="10198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74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47" dirty="0"/>
          </a:p>
        </p:txBody>
      </p:sp>
      <p:sp>
        <p:nvSpPr>
          <p:cNvPr id="19" name="Text 17"/>
          <p:cNvSpPr/>
          <p:nvPr/>
        </p:nvSpPr>
        <p:spPr>
          <a:xfrm>
            <a:off x="3268345" y="1331516"/>
            <a:ext cx="10198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74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47" dirty="0"/>
          </a:p>
        </p:txBody>
      </p:sp>
      <p:sp>
        <p:nvSpPr>
          <p:cNvPr id="20" name="Text 18"/>
          <p:cNvSpPr/>
          <p:nvPr/>
        </p:nvSpPr>
        <p:spPr>
          <a:xfrm>
            <a:off x="4195445" y="1331516"/>
            <a:ext cx="10198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74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47" dirty="0"/>
          </a:p>
        </p:txBody>
      </p:sp>
      <p:sp>
        <p:nvSpPr>
          <p:cNvPr id="21" name="Text 19"/>
          <p:cNvSpPr/>
          <p:nvPr/>
        </p:nvSpPr>
        <p:spPr>
          <a:xfrm>
            <a:off x="5122545" y="1331516"/>
            <a:ext cx="10198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74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47" dirty="0"/>
          </a:p>
        </p:txBody>
      </p:sp>
      <p:sp>
        <p:nvSpPr>
          <p:cNvPr id="22" name="Text 20"/>
          <p:cNvSpPr/>
          <p:nvPr/>
        </p:nvSpPr>
        <p:spPr>
          <a:xfrm>
            <a:off x="6049645" y="1331516"/>
            <a:ext cx="10198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74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47" dirty="0"/>
          </a:p>
        </p:txBody>
      </p:sp>
      <p:sp>
        <p:nvSpPr>
          <p:cNvPr id="23" name="Text 21"/>
          <p:cNvSpPr/>
          <p:nvPr/>
        </p:nvSpPr>
        <p:spPr>
          <a:xfrm>
            <a:off x="6976745" y="1331516"/>
            <a:ext cx="10198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74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47" dirty="0"/>
          </a:p>
        </p:txBody>
      </p:sp>
      <p:sp>
        <p:nvSpPr>
          <p:cNvPr id="24" name="Text 22"/>
          <p:cNvSpPr/>
          <p:nvPr/>
        </p:nvSpPr>
        <p:spPr>
          <a:xfrm>
            <a:off x="7903845" y="1331516"/>
            <a:ext cx="10198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74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47" dirty="0"/>
          </a:p>
        </p:txBody>
      </p:sp>
      <p:sp>
        <p:nvSpPr>
          <p:cNvPr id="25" name="Text 23"/>
          <p:cNvSpPr/>
          <p:nvPr/>
        </p:nvSpPr>
        <p:spPr>
          <a:xfrm>
            <a:off x="8830945" y="1331516"/>
            <a:ext cx="10198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74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47" dirty="0"/>
          </a:p>
        </p:txBody>
      </p:sp>
      <p:sp>
        <p:nvSpPr>
          <p:cNvPr id="26" name="Text 24"/>
          <p:cNvSpPr/>
          <p:nvPr/>
        </p:nvSpPr>
        <p:spPr>
          <a:xfrm>
            <a:off x="9758045" y="1331516"/>
            <a:ext cx="10198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74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47" dirty="0"/>
          </a:p>
        </p:txBody>
      </p:sp>
      <p:sp>
        <p:nvSpPr>
          <p:cNvPr id="27" name="Text 25"/>
          <p:cNvSpPr/>
          <p:nvPr/>
        </p:nvSpPr>
        <p:spPr>
          <a:xfrm>
            <a:off x="10685145" y="1331516"/>
            <a:ext cx="101981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74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47" dirty="0"/>
          </a:p>
        </p:txBody>
      </p:sp>
      <p:sp>
        <p:nvSpPr>
          <p:cNvPr id="28" name="Text 26"/>
          <p:cNvSpPr/>
          <p:nvPr/>
        </p:nvSpPr>
        <p:spPr>
          <a:xfrm>
            <a:off x="533400" y="1625998"/>
            <a:ext cx="3428405" cy="3671292"/>
          </a:xfrm>
          <a:prstGeom prst="roundRect">
            <a:avLst>
              <a:gd name="adj" fmla="val 2223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43347" y="1817292"/>
            <a:ext cx="3309363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kern="0" spc="147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1</a:t>
            </a:r>
            <a:endParaRPr lang="en-US" sz="827" dirty="0"/>
          </a:p>
        </p:txBody>
      </p:sp>
      <p:sp>
        <p:nvSpPr>
          <p:cNvPr id="30" name="Text 28"/>
          <p:cNvSpPr/>
          <p:nvPr/>
        </p:nvSpPr>
        <p:spPr>
          <a:xfrm>
            <a:off x="743347" y="2013546"/>
            <a:ext cx="3309363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20"/>
              </a:lnSpc>
            </a:pPr>
            <a:r>
              <a:rPr lang="en-US" sz="1347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90-Day Pilot</a:t>
            </a:r>
            <a:endParaRPr lang="en-US" sz="1347" dirty="0"/>
          </a:p>
        </p:txBody>
      </p:sp>
      <p:sp>
        <p:nvSpPr>
          <p:cNvPr id="31" name="Text 29"/>
          <p:cNvSpPr/>
          <p:nvPr/>
        </p:nvSpPr>
        <p:spPr>
          <a:xfrm>
            <a:off x="743347" y="2288580"/>
            <a:ext cx="3309363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07" dirty="0"/>
          </a:p>
        </p:txBody>
      </p:sp>
      <p:sp>
        <p:nvSpPr>
          <p:cNvPr id="32" name="Text 30"/>
          <p:cNvSpPr/>
          <p:nvPr/>
        </p:nvSpPr>
        <p:spPr>
          <a:xfrm>
            <a:off x="895747" y="2576315"/>
            <a:ext cx="3141723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complaint routing optimizer</a:t>
            </a:r>
            <a:endParaRPr lang="en-US" sz="973" dirty="0"/>
          </a:p>
        </p:txBody>
      </p:sp>
      <p:sp>
        <p:nvSpPr>
          <p:cNvPr id="33" name="Text 31"/>
          <p:cNvSpPr/>
          <p:nvPr/>
        </p:nvSpPr>
        <p:spPr>
          <a:xfrm>
            <a:off x="895747" y="2800549"/>
            <a:ext cx="3141723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priority agencies</a:t>
            </a:r>
            <a:endParaRPr lang="en-US" sz="973" dirty="0"/>
          </a:p>
        </p:txBody>
      </p:sp>
      <p:sp>
        <p:nvSpPr>
          <p:cNvPr id="34" name="Text 32"/>
          <p:cNvSpPr/>
          <p:nvPr/>
        </p:nvSpPr>
        <p:spPr>
          <a:xfrm>
            <a:off x="895747" y="3024783"/>
            <a:ext cx="3141723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KPI measurement</a:t>
            </a:r>
            <a:endParaRPr lang="en-US" sz="973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105" y="4959263"/>
            <a:ext cx="176784" cy="17678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915194" y="4969074"/>
            <a:ext cx="940573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827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VALUE</a:t>
            </a:r>
            <a:endParaRPr lang="en-US" sz="827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452" y="3347244"/>
            <a:ext cx="228600" cy="2286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381699" y="1625998"/>
            <a:ext cx="3428405" cy="3671292"/>
          </a:xfrm>
          <a:prstGeom prst="roundRect">
            <a:avLst>
              <a:gd name="adj" fmla="val 2223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9" name="Text 35"/>
          <p:cNvSpPr/>
          <p:nvPr/>
        </p:nvSpPr>
        <p:spPr>
          <a:xfrm>
            <a:off x="4591645" y="1817292"/>
            <a:ext cx="3309363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kern="0" spc="147" dirty="0">
                <a:solidFill>
                  <a:srgbClr val="3A7BD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2</a:t>
            </a:r>
            <a:endParaRPr lang="en-US" sz="827" dirty="0"/>
          </a:p>
        </p:txBody>
      </p:sp>
      <p:sp>
        <p:nvSpPr>
          <p:cNvPr id="40" name="Text 36"/>
          <p:cNvSpPr/>
          <p:nvPr/>
        </p:nvSpPr>
        <p:spPr>
          <a:xfrm>
            <a:off x="4591645" y="2013546"/>
            <a:ext cx="3309363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20"/>
              </a:lnSpc>
            </a:pPr>
            <a:r>
              <a:rPr lang="en-US" sz="1347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Operational Integration</a:t>
            </a:r>
            <a:endParaRPr lang="en-US" sz="1347" dirty="0"/>
          </a:p>
        </p:txBody>
      </p:sp>
      <p:sp>
        <p:nvSpPr>
          <p:cNvPr id="41" name="Text 37"/>
          <p:cNvSpPr/>
          <p:nvPr/>
        </p:nvSpPr>
        <p:spPr>
          <a:xfrm>
            <a:off x="4591645" y="2288580"/>
            <a:ext cx="3309363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</a:t>
            </a:r>
            <a:endParaRPr lang="en-US" sz="907" dirty="0"/>
          </a:p>
        </p:txBody>
      </p:sp>
      <p:sp>
        <p:nvSpPr>
          <p:cNvPr id="42" name="Text 38"/>
          <p:cNvSpPr/>
          <p:nvPr/>
        </p:nvSpPr>
        <p:spPr>
          <a:xfrm>
            <a:off x="4744045" y="2576315"/>
            <a:ext cx="3141723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workflow integration</a:t>
            </a:r>
            <a:endParaRPr lang="en-US" sz="973" dirty="0"/>
          </a:p>
        </p:txBody>
      </p:sp>
      <p:sp>
        <p:nvSpPr>
          <p:cNvPr id="43" name="Text 39"/>
          <p:cNvSpPr/>
          <p:nvPr/>
        </p:nvSpPr>
        <p:spPr>
          <a:xfrm>
            <a:off x="4744045" y="2800549"/>
            <a:ext cx="3141723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learning</a:t>
            </a:r>
            <a:endParaRPr lang="en-US" sz="973" dirty="0"/>
          </a:p>
        </p:txBody>
      </p:sp>
      <p:sp>
        <p:nvSpPr>
          <p:cNvPr id="44" name="Text 40"/>
          <p:cNvSpPr/>
          <p:nvPr/>
        </p:nvSpPr>
        <p:spPr>
          <a:xfrm>
            <a:off x="4744045" y="3024783"/>
            <a:ext cx="3141723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dashboards</a:t>
            </a:r>
            <a:endParaRPr lang="en-US" sz="973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60403" y="4959263"/>
            <a:ext cx="176784" cy="176784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4763492" y="4969074"/>
            <a:ext cx="1355091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827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OPERATIONS</a:t>
            </a:r>
            <a:endParaRPr lang="en-US" sz="827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5751" y="3347244"/>
            <a:ext cx="228600" cy="22860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8229997" y="1625998"/>
            <a:ext cx="3428603" cy="3671292"/>
          </a:xfrm>
          <a:prstGeom prst="roundRect">
            <a:avLst>
              <a:gd name="adj" fmla="val 2222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9" name="Text 43"/>
          <p:cNvSpPr/>
          <p:nvPr/>
        </p:nvSpPr>
        <p:spPr>
          <a:xfrm>
            <a:off x="8439945" y="1817292"/>
            <a:ext cx="330958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kern="0" spc="147" dirty="0">
                <a:solidFill>
                  <a:srgbClr val="1A3F6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3</a:t>
            </a:r>
            <a:endParaRPr lang="en-US" sz="827" dirty="0"/>
          </a:p>
        </p:txBody>
      </p:sp>
      <p:sp>
        <p:nvSpPr>
          <p:cNvPr id="50" name="Text 44"/>
          <p:cNvSpPr/>
          <p:nvPr/>
        </p:nvSpPr>
        <p:spPr>
          <a:xfrm>
            <a:off x="8439945" y="2013546"/>
            <a:ext cx="3309580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20"/>
              </a:lnSpc>
            </a:pPr>
            <a:r>
              <a:rPr lang="en-US" sz="1347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Planning Intelligence Scale</a:t>
            </a:r>
            <a:endParaRPr lang="en-US" sz="1347" dirty="0"/>
          </a:p>
        </p:txBody>
      </p:sp>
      <p:sp>
        <p:nvSpPr>
          <p:cNvPr id="51" name="Text 45"/>
          <p:cNvSpPr/>
          <p:nvPr/>
        </p:nvSpPr>
        <p:spPr>
          <a:xfrm>
            <a:off x="8439945" y="2288580"/>
            <a:ext cx="3309580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0"/>
              </a:lnSpc>
            </a:pPr>
            <a:r>
              <a:rPr lang="en-US" sz="907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9–12</a:t>
            </a:r>
            <a:endParaRPr lang="en-US" sz="907" dirty="0"/>
          </a:p>
        </p:txBody>
      </p:sp>
      <p:sp>
        <p:nvSpPr>
          <p:cNvPr id="52" name="Text 46"/>
          <p:cNvSpPr/>
          <p:nvPr/>
        </p:nvSpPr>
        <p:spPr>
          <a:xfrm>
            <a:off x="8592345" y="2576315"/>
            <a:ext cx="314194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planning use cases</a:t>
            </a:r>
            <a:endParaRPr lang="en-US" sz="973" dirty="0"/>
          </a:p>
        </p:txBody>
      </p:sp>
      <p:sp>
        <p:nvSpPr>
          <p:cNvPr id="53" name="Text 47"/>
          <p:cNvSpPr/>
          <p:nvPr/>
        </p:nvSpPr>
        <p:spPr>
          <a:xfrm>
            <a:off x="8592345" y="2800549"/>
            <a:ext cx="314194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Cross-agency scaling</a:t>
            </a:r>
            <a:endParaRPr lang="en-US" sz="973" dirty="0"/>
          </a:p>
        </p:txBody>
      </p:sp>
      <p:sp>
        <p:nvSpPr>
          <p:cNvPr id="54" name="Text 48"/>
          <p:cNvSpPr/>
          <p:nvPr/>
        </p:nvSpPr>
        <p:spPr>
          <a:xfrm>
            <a:off x="8592345" y="3024783"/>
            <a:ext cx="314194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UrbanPulse AI expansion</a:t>
            </a:r>
            <a:endParaRPr lang="en-US" sz="973" dirty="0"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8701" y="4959263"/>
            <a:ext cx="176784" cy="176784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8611792" y="4969074"/>
            <a:ext cx="1187449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827" b="1" dirty="0">
                <a:solidFill>
                  <a:srgbClr val="1A3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CITY</a:t>
            </a:r>
            <a:endParaRPr lang="en-US" sz="827" dirty="0"/>
          </a:p>
        </p:txBody>
      </p:sp>
      <p:sp>
        <p:nvSpPr>
          <p:cNvPr id="57" name="Text 50"/>
          <p:cNvSpPr/>
          <p:nvPr/>
        </p:nvSpPr>
        <p:spPr>
          <a:xfrm>
            <a:off x="533400" y="5488584"/>
            <a:ext cx="1223772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  <a:spcAft>
                <a:spcPts val="747"/>
              </a:spcAft>
            </a:pPr>
            <a:r>
              <a:rPr lang="en-US" sz="827" b="1" kern="0" spc="10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KPIS ACROSS ALL PHASES</a:t>
            </a:r>
            <a:endParaRPr lang="en-US" sz="827" dirty="0"/>
          </a:p>
        </p:txBody>
      </p:sp>
      <p:sp>
        <p:nvSpPr>
          <p:cNvPr id="58" name="Text 51"/>
          <p:cNvSpPr/>
          <p:nvPr/>
        </p:nvSpPr>
        <p:spPr>
          <a:xfrm>
            <a:off x="533401" y="5740599"/>
            <a:ext cx="1381220" cy="304403"/>
          </a:xfrm>
          <a:prstGeom prst="roundRect">
            <a:avLst>
              <a:gd name="adj" fmla="val 62860"/>
            </a:avLst>
          </a:prstGeom>
          <a:solidFill>
            <a:srgbClr val="2B5EA7"/>
          </a:solidFill>
          <a:ln/>
        </p:spPr>
        <p:txBody>
          <a:bodyPr wrap="none" lIns="171027" tIns="66040" rIns="171027" bIns="66040" rtlCol="0" anchor="t"/>
          <a:lstStyle/>
          <a:p>
            <a:r>
              <a:rPr lang="en-US" sz="907" b="1" kern="0" spc="2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Speed</a:t>
            </a:r>
            <a:endParaRPr lang="en-US" sz="907" dirty="0"/>
          </a:p>
        </p:txBody>
      </p:sp>
      <p:sp>
        <p:nvSpPr>
          <p:cNvPr id="59" name="Text 52"/>
          <p:cNvSpPr/>
          <p:nvPr/>
        </p:nvSpPr>
        <p:spPr>
          <a:xfrm>
            <a:off x="1982193" y="5740599"/>
            <a:ext cx="1665601" cy="304403"/>
          </a:xfrm>
          <a:prstGeom prst="roundRect">
            <a:avLst>
              <a:gd name="adj" fmla="val 62860"/>
            </a:avLst>
          </a:prstGeom>
          <a:solidFill>
            <a:srgbClr val="2B5EA7"/>
          </a:solidFill>
          <a:ln/>
        </p:spPr>
        <p:txBody>
          <a:bodyPr wrap="none" lIns="171027" tIns="66040" rIns="171027" bIns="66040" rtlCol="0" anchor="t"/>
          <a:lstStyle/>
          <a:p>
            <a:r>
              <a:rPr lang="en-US" sz="907" b="1" kern="0" spc="2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Misroute Reduction</a:t>
            </a:r>
            <a:endParaRPr lang="en-US" sz="907" dirty="0"/>
          </a:p>
        </p:txBody>
      </p:sp>
      <p:sp>
        <p:nvSpPr>
          <p:cNvPr id="60" name="Text 53"/>
          <p:cNvSpPr/>
          <p:nvPr/>
        </p:nvSpPr>
        <p:spPr>
          <a:xfrm>
            <a:off x="3709790" y="5740599"/>
            <a:ext cx="1629573" cy="304403"/>
          </a:xfrm>
          <a:prstGeom prst="roundRect">
            <a:avLst>
              <a:gd name="adj" fmla="val 62860"/>
            </a:avLst>
          </a:prstGeom>
          <a:solidFill>
            <a:srgbClr val="2B5EA7"/>
          </a:solidFill>
          <a:ln/>
        </p:spPr>
        <p:txBody>
          <a:bodyPr wrap="none" lIns="171027" tIns="66040" rIns="171027" bIns="66040" rtlCol="0" anchor="t"/>
          <a:lstStyle/>
          <a:p>
            <a:r>
              <a:rPr lang="en-US" sz="907" b="1" kern="0" spc="2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Reduction</a:t>
            </a:r>
            <a:endParaRPr lang="en-US" sz="907" dirty="0"/>
          </a:p>
        </p:txBody>
      </p:sp>
      <p:sp>
        <p:nvSpPr>
          <p:cNvPr id="61" name="Text 54"/>
          <p:cNvSpPr/>
          <p:nvPr/>
        </p:nvSpPr>
        <p:spPr>
          <a:xfrm>
            <a:off x="5402064" y="5740599"/>
            <a:ext cx="1293376" cy="304403"/>
          </a:xfrm>
          <a:prstGeom prst="roundRect">
            <a:avLst>
              <a:gd name="adj" fmla="val 62860"/>
            </a:avLst>
          </a:prstGeom>
          <a:solidFill>
            <a:srgbClr val="2B5EA7"/>
          </a:solidFill>
          <a:ln/>
        </p:spPr>
        <p:txBody>
          <a:bodyPr wrap="none" lIns="171027" tIns="66040" rIns="171027" bIns="66040" rtlCol="0" anchor="t"/>
          <a:lstStyle/>
          <a:p>
            <a:r>
              <a:rPr lang="en-US" sz="907" b="1" kern="0" spc="2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907" dirty="0"/>
          </a:p>
        </p:txBody>
      </p:sp>
      <p:sp>
        <p:nvSpPr>
          <p:cNvPr id="62" name="Text 55"/>
          <p:cNvSpPr/>
          <p:nvPr/>
        </p:nvSpPr>
        <p:spPr>
          <a:xfrm>
            <a:off x="6764736" y="5740599"/>
            <a:ext cx="1659529" cy="304403"/>
          </a:xfrm>
          <a:prstGeom prst="roundRect">
            <a:avLst>
              <a:gd name="adj" fmla="val 62860"/>
            </a:avLst>
          </a:prstGeom>
          <a:solidFill>
            <a:srgbClr val="2B5EA7"/>
          </a:solidFill>
          <a:ln/>
        </p:spPr>
        <p:txBody>
          <a:bodyPr wrap="none" lIns="171027" tIns="66040" rIns="171027" bIns="66040" rtlCol="0" anchor="t"/>
          <a:lstStyle/>
          <a:p>
            <a:r>
              <a:rPr lang="en-US" sz="907" b="1" kern="0" spc="2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Satisfaction</a:t>
            </a:r>
            <a:endParaRPr lang="en-US" sz="907" dirty="0"/>
          </a:p>
        </p:txBody>
      </p:sp>
      <p:sp>
        <p:nvSpPr>
          <p:cNvPr id="63" name="Text 56"/>
          <p:cNvSpPr/>
          <p:nvPr/>
        </p:nvSpPr>
        <p:spPr>
          <a:xfrm>
            <a:off x="533400" y="6215856"/>
            <a:ext cx="11347704" cy="374651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191347" tIns="94827" rIns="191347" bIns="94827" rtlCol="0" anchor="t"/>
          <a:lstStyle/>
          <a:p>
            <a:r>
              <a:rPr lang="en-US" sz="97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</a:t>
            </a:r>
            <a:r>
              <a:rPr lang="en-US" sz="97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 small, prove value fast, then scale across the city.</a:t>
            </a:r>
            <a:endParaRPr lang="en-US" sz="973" dirty="0"/>
          </a:p>
        </p:txBody>
      </p:sp>
      <p:sp>
        <p:nvSpPr>
          <p:cNvPr id="64" name="Text 57"/>
          <p:cNvSpPr/>
          <p:nvPr/>
        </p:nvSpPr>
        <p:spPr>
          <a:xfrm>
            <a:off x="533401" y="6215856"/>
            <a:ext cx="38100" cy="374651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5" name="Text 58"/>
          <p:cNvSpPr/>
          <p:nvPr/>
        </p:nvSpPr>
        <p:spPr>
          <a:xfrm>
            <a:off x="533400" y="1625998"/>
            <a:ext cx="3428403" cy="38893"/>
          </a:xfrm>
          <a:custGeom>
            <a:avLst/>
            <a:gdLst/>
            <a:ahLst/>
            <a:cxnLst/>
            <a:rect l="l" t="t" r="r" b="b"/>
            <a:pathLst>
              <a:path w="2571302" h="29170">
                <a:moveTo>
                  <a:pt x="57150" y="0"/>
                </a:moveTo>
                <a:lnTo>
                  <a:pt x="2514152" y="0"/>
                </a:lnTo>
                <a:lnTo>
                  <a:pt x="2514152" y="0"/>
                </a:lnTo>
                <a:lnTo>
                  <a:pt x="2525302" y="1098"/>
                </a:lnTo>
                <a:lnTo>
                  <a:pt x="2536023" y="4350"/>
                </a:lnTo>
                <a:lnTo>
                  <a:pt x="2545903" y="9632"/>
                </a:lnTo>
                <a:lnTo>
                  <a:pt x="2554563" y="16739"/>
                </a:lnTo>
                <a:lnTo>
                  <a:pt x="2561671" y="25399"/>
                </a:lnTo>
                <a:lnTo>
                  <a:pt x="2566952" y="29170"/>
                </a:lnTo>
                <a:lnTo>
                  <a:pt x="2570204" y="29170"/>
                </a:lnTo>
                <a:lnTo>
                  <a:pt x="2571302" y="29170"/>
                </a:lnTo>
                <a:lnTo>
                  <a:pt x="2571302" y="29170"/>
                </a:lnTo>
                <a:lnTo>
                  <a:pt x="0" y="29170"/>
                </a:lnTo>
                <a:lnTo>
                  <a:pt x="0" y="57150"/>
                </a:lnTo>
                <a:lnTo>
                  <a:pt x="57150" y="0"/>
                </a:lnTo>
                <a:lnTo>
                  <a:pt x="46001" y="1098"/>
                </a:lnTo>
                <a:lnTo>
                  <a:pt x="35280" y="4350"/>
                </a:lnTo>
                <a:lnTo>
                  <a:pt x="25399" y="9632"/>
                </a:lnTo>
                <a:lnTo>
                  <a:pt x="16739" y="16739"/>
                </a:lnTo>
                <a:lnTo>
                  <a:pt x="9632" y="25399"/>
                </a:lnTo>
                <a:lnTo>
                  <a:pt x="4350" y="29170"/>
                </a:lnTo>
                <a:lnTo>
                  <a:pt x="1098" y="29170"/>
                </a:lnTo>
                <a:lnTo>
                  <a:pt x="0" y="29170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6" name="Text 59"/>
          <p:cNvSpPr/>
          <p:nvPr/>
        </p:nvSpPr>
        <p:spPr>
          <a:xfrm>
            <a:off x="4381699" y="1625998"/>
            <a:ext cx="3428403" cy="38893"/>
          </a:xfrm>
          <a:custGeom>
            <a:avLst/>
            <a:gdLst/>
            <a:ahLst/>
            <a:cxnLst/>
            <a:rect l="l" t="t" r="r" b="b"/>
            <a:pathLst>
              <a:path w="2571302" h="29170">
                <a:moveTo>
                  <a:pt x="57150" y="0"/>
                </a:moveTo>
                <a:lnTo>
                  <a:pt x="2514152" y="0"/>
                </a:lnTo>
                <a:lnTo>
                  <a:pt x="2514152" y="0"/>
                </a:lnTo>
                <a:lnTo>
                  <a:pt x="2525302" y="1098"/>
                </a:lnTo>
                <a:lnTo>
                  <a:pt x="2536023" y="4350"/>
                </a:lnTo>
                <a:lnTo>
                  <a:pt x="2545903" y="9632"/>
                </a:lnTo>
                <a:lnTo>
                  <a:pt x="2554563" y="16739"/>
                </a:lnTo>
                <a:lnTo>
                  <a:pt x="2561671" y="25399"/>
                </a:lnTo>
                <a:lnTo>
                  <a:pt x="2566952" y="29170"/>
                </a:lnTo>
                <a:lnTo>
                  <a:pt x="2570204" y="29170"/>
                </a:lnTo>
                <a:lnTo>
                  <a:pt x="2571302" y="29170"/>
                </a:lnTo>
                <a:lnTo>
                  <a:pt x="2571302" y="29170"/>
                </a:lnTo>
                <a:lnTo>
                  <a:pt x="0" y="29170"/>
                </a:lnTo>
                <a:lnTo>
                  <a:pt x="0" y="57150"/>
                </a:lnTo>
                <a:lnTo>
                  <a:pt x="57150" y="0"/>
                </a:lnTo>
                <a:lnTo>
                  <a:pt x="46001" y="1098"/>
                </a:lnTo>
                <a:lnTo>
                  <a:pt x="35280" y="4350"/>
                </a:lnTo>
                <a:lnTo>
                  <a:pt x="25399" y="9632"/>
                </a:lnTo>
                <a:lnTo>
                  <a:pt x="16739" y="16739"/>
                </a:lnTo>
                <a:lnTo>
                  <a:pt x="9632" y="25399"/>
                </a:lnTo>
                <a:lnTo>
                  <a:pt x="4350" y="29170"/>
                </a:lnTo>
                <a:lnTo>
                  <a:pt x="1098" y="29170"/>
                </a:lnTo>
                <a:lnTo>
                  <a:pt x="0" y="29170"/>
                </a:lnTo>
                <a:close/>
              </a:path>
            </a:pathLst>
          </a:custGeom>
          <a:solidFill>
            <a:srgbClr val="3A7BD5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7" name="Text 60"/>
          <p:cNvSpPr/>
          <p:nvPr/>
        </p:nvSpPr>
        <p:spPr>
          <a:xfrm>
            <a:off x="8229998" y="1625998"/>
            <a:ext cx="3428607" cy="38893"/>
          </a:xfrm>
          <a:custGeom>
            <a:avLst/>
            <a:gdLst/>
            <a:ahLst/>
            <a:cxnLst/>
            <a:rect l="l" t="t" r="r" b="b"/>
            <a:pathLst>
              <a:path w="2571455" h="29170">
                <a:moveTo>
                  <a:pt x="57150" y="0"/>
                </a:moveTo>
                <a:lnTo>
                  <a:pt x="2514305" y="0"/>
                </a:lnTo>
                <a:lnTo>
                  <a:pt x="2514305" y="0"/>
                </a:lnTo>
                <a:lnTo>
                  <a:pt x="2525454" y="1098"/>
                </a:lnTo>
                <a:lnTo>
                  <a:pt x="2536175" y="4350"/>
                </a:lnTo>
                <a:lnTo>
                  <a:pt x="2546056" y="9632"/>
                </a:lnTo>
                <a:lnTo>
                  <a:pt x="2554716" y="16739"/>
                </a:lnTo>
                <a:lnTo>
                  <a:pt x="2561823" y="25399"/>
                </a:lnTo>
                <a:lnTo>
                  <a:pt x="2567104" y="29170"/>
                </a:lnTo>
                <a:lnTo>
                  <a:pt x="2570357" y="29170"/>
                </a:lnTo>
                <a:lnTo>
                  <a:pt x="2571455" y="29170"/>
                </a:lnTo>
                <a:lnTo>
                  <a:pt x="2571455" y="29170"/>
                </a:lnTo>
                <a:lnTo>
                  <a:pt x="0" y="29170"/>
                </a:lnTo>
                <a:lnTo>
                  <a:pt x="0" y="57150"/>
                </a:lnTo>
                <a:lnTo>
                  <a:pt x="57150" y="0"/>
                </a:lnTo>
                <a:lnTo>
                  <a:pt x="46001" y="1098"/>
                </a:lnTo>
                <a:lnTo>
                  <a:pt x="35280" y="4350"/>
                </a:lnTo>
                <a:lnTo>
                  <a:pt x="25399" y="9632"/>
                </a:lnTo>
                <a:lnTo>
                  <a:pt x="16739" y="16739"/>
                </a:lnTo>
                <a:lnTo>
                  <a:pt x="9632" y="25399"/>
                </a:lnTo>
                <a:lnTo>
                  <a:pt x="4350" y="29170"/>
                </a:lnTo>
                <a:lnTo>
                  <a:pt x="1098" y="29170"/>
                </a:lnTo>
                <a:lnTo>
                  <a:pt x="0" y="29170"/>
                </a:lnTo>
                <a:close/>
              </a:path>
            </a:pathLst>
          </a:custGeom>
          <a:solidFill>
            <a:srgbClr val="1A3F6F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8" name="Text 61"/>
          <p:cNvSpPr/>
          <p:nvPr/>
        </p:nvSpPr>
        <p:spPr>
          <a:xfrm>
            <a:off x="743347" y="2642355"/>
            <a:ext cx="57547" cy="57547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9" name="Text 62"/>
          <p:cNvSpPr/>
          <p:nvPr/>
        </p:nvSpPr>
        <p:spPr>
          <a:xfrm>
            <a:off x="743347" y="2866588"/>
            <a:ext cx="57547" cy="57547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70" name="Text 63"/>
          <p:cNvSpPr/>
          <p:nvPr/>
        </p:nvSpPr>
        <p:spPr>
          <a:xfrm>
            <a:off x="743347" y="3090823"/>
            <a:ext cx="57547" cy="57547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71" name="Text 64"/>
          <p:cNvSpPr/>
          <p:nvPr/>
        </p:nvSpPr>
        <p:spPr>
          <a:xfrm>
            <a:off x="4591645" y="2642355"/>
            <a:ext cx="57547" cy="57547"/>
          </a:xfrm>
          <a:prstGeom prst="ellipse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72" name="Text 65"/>
          <p:cNvSpPr/>
          <p:nvPr/>
        </p:nvSpPr>
        <p:spPr>
          <a:xfrm>
            <a:off x="4591645" y="2866588"/>
            <a:ext cx="57547" cy="57547"/>
          </a:xfrm>
          <a:prstGeom prst="ellipse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73" name="Text 66"/>
          <p:cNvSpPr/>
          <p:nvPr/>
        </p:nvSpPr>
        <p:spPr>
          <a:xfrm>
            <a:off x="4591645" y="3090823"/>
            <a:ext cx="57547" cy="57547"/>
          </a:xfrm>
          <a:prstGeom prst="ellipse">
            <a:avLst/>
          </a:prstGeom>
          <a:solidFill>
            <a:srgbClr val="3A7BD5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74" name="Text 67"/>
          <p:cNvSpPr/>
          <p:nvPr/>
        </p:nvSpPr>
        <p:spPr>
          <a:xfrm>
            <a:off x="8439944" y="2642355"/>
            <a:ext cx="57547" cy="57547"/>
          </a:xfrm>
          <a:prstGeom prst="ellipse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75" name="Text 68"/>
          <p:cNvSpPr/>
          <p:nvPr/>
        </p:nvSpPr>
        <p:spPr>
          <a:xfrm>
            <a:off x="8439944" y="2866588"/>
            <a:ext cx="57547" cy="57547"/>
          </a:xfrm>
          <a:prstGeom prst="ellipse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76" name="Text 69"/>
          <p:cNvSpPr/>
          <p:nvPr/>
        </p:nvSpPr>
        <p:spPr>
          <a:xfrm>
            <a:off x="8439944" y="3090823"/>
            <a:ext cx="57547" cy="57547"/>
          </a:xfrm>
          <a:prstGeom prst="ellipse">
            <a:avLst/>
          </a:prstGeom>
          <a:solidFill>
            <a:srgbClr val="1A3F6F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29035"/>
            <a:ext cx="304800" cy="28773"/>
          </a:xfrm>
          <a:prstGeom prst="roundRect">
            <a:avLst>
              <a:gd name="adj" fmla="val 64736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9055" y="457200"/>
            <a:ext cx="2723932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b="1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DIFFERENTIATION</a:t>
            </a:r>
            <a:endParaRPr lang="en-US" sz="907" dirty="0"/>
          </a:p>
        </p:txBody>
      </p:sp>
      <p:sp>
        <p:nvSpPr>
          <p:cNvPr id="4" name="Text 2"/>
          <p:cNvSpPr/>
          <p:nvPr/>
        </p:nvSpPr>
        <p:spPr>
          <a:xfrm>
            <a:off x="609600" y="687388"/>
            <a:ext cx="11740896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  <a:spcAft>
                <a:spcPts val="2107"/>
              </a:spcAft>
            </a:pPr>
            <a:r>
              <a:rPr lang="en-US" sz="24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Other Firms Bring Models. </a:t>
            </a:r>
            <a:r>
              <a:rPr lang="en-US" sz="2400" b="1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Bring Transformation.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1" y="1320602"/>
            <a:ext cx="3568303" cy="792361"/>
          </a:xfrm>
          <a:prstGeom prst="roundRect">
            <a:avLst>
              <a:gd name="adj" fmla="val 96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0893" y="1454348"/>
            <a:ext cx="362347" cy="362347"/>
          </a:xfrm>
          <a:prstGeom prst="roundRect">
            <a:avLst>
              <a:gd name="adj" fmla="val 21030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576" y="1547031"/>
            <a:ext cx="176784" cy="1767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5641" y="1454349"/>
            <a:ext cx="293806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9"/>
              </a:lnSpc>
            </a:pPr>
            <a:r>
              <a:rPr lang="en-US" sz="105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Public-Sector AI</a:t>
            </a:r>
            <a:endParaRPr lang="en-US" sz="1053" dirty="0"/>
          </a:p>
        </p:txBody>
      </p:sp>
      <p:sp>
        <p:nvSpPr>
          <p:cNvPr id="9" name="Text 6"/>
          <p:cNvSpPr/>
          <p:nvPr/>
        </p:nvSpPr>
        <p:spPr>
          <a:xfrm>
            <a:off x="1315641" y="1656953"/>
            <a:ext cx="2724388" cy="33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9"/>
              </a:lnSpc>
            </a:pPr>
            <a:r>
              <a:rPr lang="en-US" sz="90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models built for government accountability &amp; public trust</a:t>
            </a:r>
            <a:endParaRPr lang="en-US" sz="907" dirty="0"/>
          </a:p>
        </p:txBody>
      </p:sp>
      <p:sp>
        <p:nvSpPr>
          <p:cNvPr id="10" name="Text 7"/>
          <p:cNvSpPr/>
          <p:nvPr/>
        </p:nvSpPr>
        <p:spPr>
          <a:xfrm>
            <a:off x="4311651" y="1320602"/>
            <a:ext cx="3568501" cy="792361"/>
          </a:xfrm>
          <a:prstGeom prst="roundRect">
            <a:avLst>
              <a:gd name="adj" fmla="val 96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502944" y="1454348"/>
            <a:ext cx="362347" cy="362347"/>
          </a:xfrm>
          <a:prstGeom prst="roundRect">
            <a:avLst>
              <a:gd name="adj" fmla="val 21030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5625" y="1547031"/>
            <a:ext cx="176784" cy="1767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17691" y="1454349"/>
            <a:ext cx="293828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9"/>
              </a:lnSpc>
            </a:pPr>
            <a:r>
              <a:rPr lang="en-US" sz="105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ROI-Backed Use Cases</a:t>
            </a:r>
            <a:endParaRPr lang="en-US" sz="1053" dirty="0"/>
          </a:p>
        </p:txBody>
      </p:sp>
      <p:sp>
        <p:nvSpPr>
          <p:cNvPr id="14" name="Text 10"/>
          <p:cNvSpPr/>
          <p:nvPr/>
        </p:nvSpPr>
        <p:spPr>
          <a:xfrm>
            <a:off x="5017691" y="1656953"/>
            <a:ext cx="2724591" cy="33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9"/>
              </a:lnSpc>
            </a:pPr>
            <a:r>
              <a:rPr lang="en-US" sz="90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case quantified with proven metrics &amp; economic modeling</a:t>
            </a:r>
            <a:endParaRPr lang="en-US" sz="907" dirty="0"/>
          </a:p>
        </p:txBody>
      </p:sp>
      <p:sp>
        <p:nvSpPr>
          <p:cNvPr id="15" name="Text 11"/>
          <p:cNvSpPr/>
          <p:nvPr/>
        </p:nvSpPr>
        <p:spPr>
          <a:xfrm>
            <a:off x="8013899" y="1320602"/>
            <a:ext cx="3568501" cy="792361"/>
          </a:xfrm>
          <a:prstGeom prst="roundRect">
            <a:avLst>
              <a:gd name="adj" fmla="val 96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205192" y="1454348"/>
            <a:ext cx="362347" cy="362347"/>
          </a:xfrm>
          <a:prstGeom prst="roundRect">
            <a:avLst>
              <a:gd name="adj" fmla="val 21030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7875" y="1547031"/>
            <a:ext cx="176784" cy="1767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19939" y="1454349"/>
            <a:ext cx="293828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9"/>
              </a:lnSpc>
            </a:pPr>
            <a:r>
              <a:rPr lang="en-US" sz="105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Realism</a:t>
            </a:r>
            <a:endParaRPr lang="en-US" sz="1053" dirty="0"/>
          </a:p>
        </p:txBody>
      </p:sp>
      <p:sp>
        <p:nvSpPr>
          <p:cNvPr id="19" name="Text 14"/>
          <p:cNvSpPr/>
          <p:nvPr/>
        </p:nvSpPr>
        <p:spPr>
          <a:xfrm>
            <a:off x="8719939" y="1656953"/>
            <a:ext cx="2724591" cy="33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9"/>
              </a:lnSpc>
            </a:pPr>
            <a:r>
              <a:rPr lang="en-US" sz="90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designed around real operators, not theoretical automation</a:t>
            </a:r>
            <a:endParaRPr lang="en-US" sz="907" dirty="0"/>
          </a:p>
        </p:txBody>
      </p:sp>
      <p:sp>
        <p:nvSpPr>
          <p:cNvPr id="20" name="Text 15"/>
          <p:cNvSpPr/>
          <p:nvPr/>
        </p:nvSpPr>
        <p:spPr>
          <a:xfrm>
            <a:off x="1371601" y="2228056"/>
            <a:ext cx="4657527" cy="631229"/>
          </a:xfrm>
          <a:prstGeom prst="roundRect">
            <a:avLst>
              <a:gd name="adj" fmla="val 12072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1562893" y="2361803"/>
            <a:ext cx="362347" cy="362347"/>
          </a:xfrm>
          <a:prstGeom prst="roundRect">
            <a:avLst>
              <a:gd name="adj" fmla="val 21030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5576" y="2454485"/>
            <a:ext cx="176784" cy="1767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77641" y="2361803"/>
            <a:ext cx="304218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9"/>
              </a:lnSpc>
            </a:pPr>
            <a:r>
              <a:rPr lang="en-US" sz="105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Platform Strategy</a:t>
            </a:r>
            <a:endParaRPr lang="en-US" sz="1053" dirty="0"/>
          </a:p>
        </p:txBody>
      </p:sp>
      <p:sp>
        <p:nvSpPr>
          <p:cNvPr id="24" name="Text 18"/>
          <p:cNvSpPr/>
          <p:nvPr/>
        </p:nvSpPr>
        <p:spPr>
          <a:xfrm>
            <a:off x="2077641" y="2564408"/>
            <a:ext cx="3042185" cy="161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69"/>
              </a:lnSpc>
            </a:pPr>
            <a:r>
              <a:rPr lang="en-US" sz="90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AI ecosystem — not isolated point solutions</a:t>
            </a:r>
            <a:endParaRPr lang="en-US" sz="907" dirty="0"/>
          </a:p>
        </p:txBody>
      </p:sp>
      <p:sp>
        <p:nvSpPr>
          <p:cNvPr id="25" name="Text 19"/>
          <p:cNvSpPr/>
          <p:nvPr/>
        </p:nvSpPr>
        <p:spPr>
          <a:xfrm>
            <a:off x="6162874" y="2228056"/>
            <a:ext cx="4657527" cy="631229"/>
          </a:xfrm>
          <a:prstGeom prst="roundRect">
            <a:avLst>
              <a:gd name="adj" fmla="val 12072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6354167" y="2361803"/>
            <a:ext cx="362347" cy="362347"/>
          </a:xfrm>
          <a:prstGeom prst="roundRect">
            <a:avLst>
              <a:gd name="adj" fmla="val 21030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6849" y="2454485"/>
            <a:ext cx="176784" cy="1767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68915" y="2361803"/>
            <a:ext cx="324584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69"/>
              </a:lnSpc>
            </a:pPr>
            <a:r>
              <a:rPr lang="en-US" sz="105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Pilot Readiness</a:t>
            </a:r>
            <a:endParaRPr lang="en-US" sz="1053" dirty="0"/>
          </a:p>
        </p:txBody>
      </p:sp>
      <p:sp>
        <p:nvSpPr>
          <p:cNvPr id="29" name="Text 22"/>
          <p:cNvSpPr/>
          <p:nvPr/>
        </p:nvSpPr>
        <p:spPr>
          <a:xfrm>
            <a:off x="6868915" y="2564408"/>
            <a:ext cx="3245843" cy="161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69"/>
              </a:lnSpc>
            </a:pPr>
            <a:r>
              <a:rPr lang="en-US" sz="90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90 days — no 12-month planning cycle required</a:t>
            </a:r>
            <a:endParaRPr lang="en-US" sz="907" dirty="0"/>
          </a:p>
        </p:txBody>
      </p:sp>
      <p:sp>
        <p:nvSpPr>
          <p:cNvPr id="30" name="Text 23"/>
          <p:cNvSpPr/>
          <p:nvPr/>
        </p:nvSpPr>
        <p:spPr>
          <a:xfrm>
            <a:off x="3042934" y="3087886"/>
            <a:ext cx="6106132" cy="438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3449"/>
              </a:lnSpc>
            </a:pPr>
            <a:r>
              <a:rPr lang="en-US" sz="3000" b="1" kern="0" spc="-4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Experimentation. </a:t>
            </a:r>
            <a:r>
              <a:rPr lang="en-US" sz="3000" b="1" kern="0" spc="-4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Execution.</a:t>
            </a:r>
            <a:endParaRPr lang="en-US" sz="3000" dirty="0"/>
          </a:p>
        </p:txBody>
      </p:sp>
      <p:sp>
        <p:nvSpPr>
          <p:cNvPr id="31" name="Text 24"/>
          <p:cNvSpPr/>
          <p:nvPr/>
        </p:nvSpPr>
        <p:spPr>
          <a:xfrm>
            <a:off x="609600" y="5926137"/>
            <a:ext cx="10972800" cy="645875"/>
          </a:xfrm>
          <a:prstGeom prst="rect">
            <a:avLst/>
          </a:prstGeom>
          <a:solidFill>
            <a:srgbClr val="F2F5F8"/>
          </a:solidFill>
          <a:ln/>
        </p:spPr>
        <p:txBody>
          <a:bodyPr wrap="square" lIns="228600" tIns="115147" rIns="228600" bIns="115147" rtlCol="0" anchor="t"/>
          <a:lstStyle/>
          <a:p>
            <a:r>
              <a:rPr lang="en-US" sz="827" b="1" kern="0" spc="10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1600" dirty="0"/>
          </a:p>
          <a:p>
            <a:r>
              <a:rPr lang="en-US" sz="105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analytical rigor with operational pragmatism — ready to deliver from Day 1.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609601" y="5926138"/>
            <a:ext cx="38100" cy="627063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3" name="Text 26"/>
          <p:cNvSpPr/>
          <p:nvPr/>
        </p:nvSpPr>
        <p:spPr>
          <a:xfrm>
            <a:off x="2861667" y="3175595"/>
            <a:ext cx="38893" cy="262731"/>
          </a:xfrm>
          <a:prstGeom prst="roundRect">
            <a:avLst>
              <a:gd name="adj" fmla="val 47892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4" name="Text 27"/>
          <p:cNvSpPr/>
          <p:nvPr/>
        </p:nvSpPr>
        <p:spPr>
          <a:xfrm>
            <a:off x="9291436" y="3175595"/>
            <a:ext cx="38893" cy="262731"/>
          </a:xfrm>
          <a:prstGeom prst="roundRect">
            <a:avLst>
              <a:gd name="adj" fmla="val 47892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1"/>
            <a:ext cx="1207008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  <a:spcAft>
                <a:spcPts val="600"/>
              </a:spcAft>
            </a:pPr>
            <a:r>
              <a:rPr lang="en-US" sz="827" b="1" kern="0" spc="133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IMPACT</a:t>
            </a:r>
            <a:endParaRPr lang="en-US" sz="827" dirty="0"/>
          </a:p>
        </p:txBody>
      </p:sp>
      <p:sp>
        <p:nvSpPr>
          <p:cNvPr id="3" name="Text 1"/>
          <p:cNvSpPr/>
          <p:nvPr/>
        </p:nvSpPr>
        <p:spPr>
          <a:xfrm>
            <a:off x="609600" y="690761"/>
            <a:ext cx="11740896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29"/>
              </a:lnSpc>
            </a:pPr>
            <a:r>
              <a:rPr lang="en-US" sz="2547" kern="0" spc="-4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Is Not Software. </a:t>
            </a:r>
            <a:r>
              <a:rPr lang="en-US" sz="2547" b="1" kern="0" spc="-40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Is Urban Operating Leverage.</a:t>
            </a:r>
            <a:endParaRPr lang="en-US" sz="2547" dirty="0"/>
          </a:p>
        </p:txBody>
      </p:sp>
      <p:sp>
        <p:nvSpPr>
          <p:cNvPr id="4" name="Text 2"/>
          <p:cNvSpPr/>
          <p:nvPr/>
        </p:nvSpPr>
        <p:spPr>
          <a:xfrm>
            <a:off x="609600" y="1387673"/>
            <a:ext cx="3505200" cy="2667000"/>
          </a:xfrm>
          <a:prstGeom prst="roundRect">
            <a:avLst>
              <a:gd name="adj" fmla="val 43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7094" y="1655167"/>
            <a:ext cx="419893" cy="461883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507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507" dirty="0"/>
          </a:p>
        </p:txBody>
      </p:sp>
      <p:sp>
        <p:nvSpPr>
          <p:cNvPr id="6" name="Text 4"/>
          <p:cNvSpPr/>
          <p:nvPr/>
        </p:nvSpPr>
        <p:spPr>
          <a:xfrm>
            <a:off x="877094" y="2208809"/>
            <a:ext cx="3267233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b="1" kern="0" spc="10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ONE</a:t>
            </a:r>
            <a:endParaRPr lang="en-US" sz="827" dirty="0"/>
          </a:p>
        </p:txBody>
      </p:sp>
      <p:sp>
        <p:nvSpPr>
          <p:cNvPr id="7" name="Text 5"/>
          <p:cNvSpPr/>
          <p:nvPr/>
        </p:nvSpPr>
        <p:spPr>
          <a:xfrm>
            <a:off x="877094" y="2423717"/>
            <a:ext cx="326723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84"/>
              </a:lnSpc>
            </a:pPr>
            <a:r>
              <a:rPr lang="en-US" sz="1653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Operational Efficiency</a:t>
            </a:r>
            <a:endParaRPr lang="en-US" sz="1653" dirty="0"/>
          </a:p>
        </p:txBody>
      </p:sp>
      <p:sp>
        <p:nvSpPr>
          <p:cNvPr id="8" name="Text 6"/>
          <p:cNvSpPr/>
          <p:nvPr/>
        </p:nvSpPr>
        <p:spPr>
          <a:xfrm>
            <a:off x="1067593" y="2837855"/>
            <a:ext cx="2866251" cy="194469"/>
          </a:xfrm>
          <a:prstGeom prst="rect">
            <a:avLst/>
          </a:prstGeom>
          <a:noFill/>
          <a:ln/>
        </p:spPr>
        <p:txBody>
          <a:bodyPr wrap="none" lIns="0" tIns="47413" rIns="0" bIns="47413" rtlCol="0" anchor="t"/>
          <a:lstStyle/>
          <a:p>
            <a:pPr>
              <a:lnSpc>
                <a:spcPts val="1531"/>
              </a:lnSpc>
            </a:pPr>
            <a:r>
              <a:rPr lang="en-US" sz="109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service delivery across all channels</a:t>
            </a:r>
            <a:endParaRPr lang="en-US" sz="1093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852" y="2825068"/>
            <a:ext cx="176784" cy="1767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7593" y="3126780"/>
            <a:ext cx="2850099" cy="194469"/>
          </a:xfrm>
          <a:prstGeom prst="rect">
            <a:avLst/>
          </a:prstGeom>
          <a:noFill/>
          <a:ln/>
        </p:spPr>
        <p:txBody>
          <a:bodyPr wrap="none" lIns="0" tIns="47413" rIns="0" bIns="47413" rtlCol="0" anchor="t"/>
          <a:lstStyle/>
          <a:p>
            <a:pPr>
              <a:lnSpc>
                <a:spcPts val="1531"/>
              </a:lnSpc>
            </a:pPr>
            <a:r>
              <a:rPr lang="en-US" sz="109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operating costs through automation</a:t>
            </a:r>
            <a:endParaRPr lang="en-US" sz="1093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852" y="3113992"/>
            <a:ext cx="176784" cy="1767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67593" y="3415706"/>
            <a:ext cx="2688352" cy="194469"/>
          </a:xfrm>
          <a:prstGeom prst="rect">
            <a:avLst/>
          </a:prstGeom>
          <a:noFill/>
          <a:ln/>
        </p:spPr>
        <p:txBody>
          <a:bodyPr wrap="none" lIns="0" tIns="47413" rIns="0" bIns="47413" rtlCol="0" anchor="t"/>
          <a:lstStyle/>
          <a:p>
            <a:pPr>
              <a:lnSpc>
                <a:spcPts val="1531"/>
              </a:lnSpc>
            </a:pPr>
            <a:r>
              <a:rPr lang="en-US" sz="109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resource allocation &amp; utilization</a:t>
            </a:r>
            <a:endParaRPr lang="en-US" sz="1093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852" y="3402917"/>
            <a:ext cx="176784" cy="1767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43400" y="1387673"/>
            <a:ext cx="3505200" cy="2667000"/>
          </a:xfrm>
          <a:prstGeom prst="roundRect">
            <a:avLst>
              <a:gd name="adj" fmla="val 43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4610894" y="1655167"/>
            <a:ext cx="419893" cy="461883"/>
          </a:xfrm>
          <a:prstGeom prst="ellipse">
            <a:avLst/>
          </a:prstGeom>
          <a:solidFill>
            <a:srgbClr val="1B7A5A"/>
          </a:solidFill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507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507" dirty="0"/>
          </a:p>
        </p:txBody>
      </p:sp>
      <p:sp>
        <p:nvSpPr>
          <p:cNvPr id="16" name="Text 11"/>
          <p:cNvSpPr/>
          <p:nvPr/>
        </p:nvSpPr>
        <p:spPr>
          <a:xfrm>
            <a:off x="4610894" y="2208809"/>
            <a:ext cx="3267233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b="1" kern="0" spc="107" dirty="0">
                <a:solidFill>
                  <a:srgbClr val="1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TWO</a:t>
            </a:r>
            <a:endParaRPr lang="en-US" sz="827" dirty="0"/>
          </a:p>
        </p:txBody>
      </p:sp>
      <p:sp>
        <p:nvSpPr>
          <p:cNvPr id="17" name="Text 12"/>
          <p:cNvSpPr/>
          <p:nvPr/>
        </p:nvSpPr>
        <p:spPr>
          <a:xfrm>
            <a:off x="4610894" y="2423717"/>
            <a:ext cx="326723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84"/>
              </a:lnSpc>
            </a:pPr>
            <a:r>
              <a:rPr lang="en-US" sz="1653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Outcomes</a:t>
            </a:r>
            <a:endParaRPr lang="en-US" sz="1653" dirty="0"/>
          </a:p>
        </p:txBody>
      </p:sp>
      <p:sp>
        <p:nvSpPr>
          <p:cNvPr id="18" name="Text 13"/>
          <p:cNvSpPr/>
          <p:nvPr/>
        </p:nvSpPr>
        <p:spPr>
          <a:xfrm>
            <a:off x="4801393" y="2837855"/>
            <a:ext cx="2875419" cy="194469"/>
          </a:xfrm>
          <a:prstGeom prst="rect">
            <a:avLst/>
          </a:prstGeom>
          <a:noFill/>
          <a:ln/>
        </p:spPr>
        <p:txBody>
          <a:bodyPr wrap="none" lIns="0" tIns="47413" rIns="0" bIns="47413" rtlCol="0" anchor="t"/>
          <a:lstStyle/>
          <a:p>
            <a:pPr>
              <a:lnSpc>
                <a:spcPts val="1531"/>
              </a:lnSpc>
            </a:pPr>
            <a:r>
              <a:rPr lang="en-US" sz="109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roads through predictive intervention</a:t>
            </a:r>
            <a:endParaRPr lang="en-US" sz="1093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9652" y="2825068"/>
            <a:ext cx="176784" cy="1767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01393" y="3126780"/>
            <a:ext cx="2467888" cy="194469"/>
          </a:xfrm>
          <a:prstGeom prst="rect">
            <a:avLst/>
          </a:prstGeom>
          <a:noFill/>
          <a:ln/>
        </p:spPr>
        <p:txBody>
          <a:bodyPr wrap="none" lIns="0" tIns="47413" rIns="0" bIns="47413" rtlCol="0" anchor="t"/>
          <a:lstStyle/>
          <a:p>
            <a:pPr>
              <a:lnSpc>
                <a:spcPts val="1531"/>
              </a:lnSpc>
            </a:pPr>
            <a:r>
              <a:rPr lang="en-US" sz="109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Measurably improved service quality</a:t>
            </a:r>
            <a:endParaRPr lang="en-US" sz="1093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9652" y="3113992"/>
            <a:ext cx="176784" cy="1767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01394" y="3415706"/>
            <a:ext cx="2366169" cy="194469"/>
          </a:xfrm>
          <a:prstGeom prst="rect">
            <a:avLst/>
          </a:prstGeom>
          <a:noFill/>
          <a:ln/>
        </p:spPr>
        <p:txBody>
          <a:bodyPr wrap="none" lIns="0" tIns="47413" rIns="0" bIns="47413" rtlCol="0" anchor="t"/>
          <a:lstStyle/>
          <a:p>
            <a:pPr>
              <a:lnSpc>
                <a:spcPts val="1531"/>
              </a:lnSpc>
            </a:pPr>
            <a:r>
              <a:rPr lang="en-US" sz="109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citizen trust and satisfaction</a:t>
            </a:r>
            <a:endParaRPr lang="en-US" sz="1093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9652" y="3402917"/>
            <a:ext cx="176784" cy="17678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077200" y="1387673"/>
            <a:ext cx="3505200" cy="2667000"/>
          </a:xfrm>
          <a:prstGeom prst="roundRect">
            <a:avLst>
              <a:gd name="adj" fmla="val 4317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5" name="Text 17"/>
          <p:cNvSpPr/>
          <p:nvPr/>
        </p:nvSpPr>
        <p:spPr>
          <a:xfrm>
            <a:off x="8344694" y="1655167"/>
            <a:ext cx="419893" cy="461883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507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507" dirty="0"/>
          </a:p>
        </p:txBody>
      </p:sp>
      <p:sp>
        <p:nvSpPr>
          <p:cNvPr id="26" name="Text 18"/>
          <p:cNvSpPr/>
          <p:nvPr/>
        </p:nvSpPr>
        <p:spPr>
          <a:xfrm>
            <a:off x="8344694" y="2208809"/>
            <a:ext cx="3267233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b="1" kern="0" spc="107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THREE</a:t>
            </a:r>
            <a:endParaRPr lang="en-US" sz="827" dirty="0"/>
          </a:p>
        </p:txBody>
      </p:sp>
      <p:sp>
        <p:nvSpPr>
          <p:cNvPr id="27" name="Text 19"/>
          <p:cNvSpPr/>
          <p:nvPr/>
        </p:nvSpPr>
        <p:spPr>
          <a:xfrm>
            <a:off x="8344694" y="2423717"/>
            <a:ext cx="326723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84"/>
              </a:lnSpc>
            </a:pPr>
            <a:r>
              <a:rPr lang="en-US" sz="1653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Transformation</a:t>
            </a:r>
            <a:endParaRPr lang="en-US" sz="1653" dirty="0"/>
          </a:p>
        </p:txBody>
      </p:sp>
      <p:sp>
        <p:nvSpPr>
          <p:cNvPr id="28" name="Text 20"/>
          <p:cNvSpPr/>
          <p:nvPr/>
        </p:nvSpPr>
        <p:spPr>
          <a:xfrm>
            <a:off x="8535194" y="2837855"/>
            <a:ext cx="2400220" cy="194469"/>
          </a:xfrm>
          <a:prstGeom prst="rect">
            <a:avLst/>
          </a:prstGeom>
          <a:noFill/>
          <a:ln/>
        </p:spPr>
        <p:txBody>
          <a:bodyPr wrap="none" lIns="0" tIns="47413" rIns="0" bIns="47413" rtlCol="0" anchor="t"/>
          <a:lstStyle/>
          <a:p>
            <a:pPr>
              <a:lnSpc>
                <a:spcPts val="1531"/>
              </a:lnSpc>
            </a:pPr>
            <a:r>
              <a:rPr lang="en-US" sz="109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AI platform for the city</a:t>
            </a:r>
            <a:endParaRPr lang="en-US" sz="1093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3452" y="2825068"/>
            <a:ext cx="176784" cy="1767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535194" y="3126780"/>
            <a:ext cx="2917329" cy="194469"/>
          </a:xfrm>
          <a:prstGeom prst="rect">
            <a:avLst/>
          </a:prstGeom>
          <a:noFill/>
          <a:ln/>
        </p:spPr>
        <p:txBody>
          <a:bodyPr wrap="none" lIns="0" tIns="47413" rIns="0" bIns="47413" rtlCol="0" anchor="t"/>
          <a:lstStyle/>
          <a:p>
            <a:pPr>
              <a:lnSpc>
                <a:spcPts val="1531"/>
              </a:lnSpc>
            </a:pPr>
            <a:r>
              <a:rPr lang="en-US" sz="109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for city modernization</a:t>
            </a:r>
            <a:endParaRPr lang="en-US" sz="1093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13452" y="3113992"/>
            <a:ext cx="176784" cy="17678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535194" y="3415706"/>
            <a:ext cx="2790508" cy="194469"/>
          </a:xfrm>
          <a:prstGeom prst="rect">
            <a:avLst/>
          </a:prstGeom>
          <a:noFill/>
          <a:ln/>
        </p:spPr>
        <p:txBody>
          <a:bodyPr wrap="none" lIns="0" tIns="47413" rIns="0" bIns="47413" rtlCol="0" anchor="t"/>
          <a:lstStyle/>
          <a:p>
            <a:pPr>
              <a:lnSpc>
                <a:spcPts val="1531"/>
              </a:lnSpc>
            </a:pPr>
            <a:r>
              <a:rPr lang="en-US" sz="109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intelligence across all agencies</a:t>
            </a:r>
            <a:endParaRPr lang="en-US" sz="1093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13452" y="3402917"/>
            <a:ext cx="176784" cy="17678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09601" y="4331891"/>
            <a:ext cx="3874492" cy="28773"/>
          </a:xfrm>
          <a:prstGeom prst="rect">
            <a:avLst/>
          </a:prstGeom>
          <a:gradFill rotWithShape="1">
            <a:gsLst>
              <a:gs pos="0">
                <a:srgbClr val="2B5EA7"/>
              </a:gs>
              <a:gs pos="100000">
                <a:srgbClr val="1B7A5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84093" y="4245967"/>
            <a:ext cx="200620" cy="20062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684712" y="4331891"/>
            <a:ext cx="3874691" cy="28773"/>
          </a:xfrm>
          <a:prstGeom prst="rect">
            <a:avLst/>
          </a:prstGeom>
          <a:gradFill rotWithShape="1">
            <a:gsLst>
              <a:gs pos="0">
                <a:srgbClr val="1B7A5A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59403" y="4245967"/>
            <a:ext cx="200620" cy="20062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8760025" y="4331891"/>
            <a:ext cx="1162447" cy="28773"/>
          </a:xfrm>
          <a:prstGeom prst="rect">
            <a:avLst/>
          </a:prstGeom>
          <a:solidFill>
            <a:srgbClr val="7C3AED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9" name="Text 26"/>
          <p:cNvSpPr/>
          <p:nvPr/>
        </p:nvSpPr>
        <p:spPr>
          <a:xfrm>
            <a:off x="9998671" y="4259857"/>
            <a:ext cx="1742103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COMPOUNDS →</a:t>
            </a:r>
            <a:endParaRPr lang="en-US" sz="907" dirty="0"/>
          </a:p>
        </p:txBody>
      </p:sp>
      <p:sp>
        <p:nvSpPr>
          <p:cNvPr id="40" name="Text 27"/>
          <p:cNvSpPr/>
          <p:nvPr/>
        </p:nvSpPr>
        <p:spPr>
          <a:xfrm>
            <a:off x="609600" y="4598988"/>
            <a:ext cx="10972800" cy="810816"/>
          </a:xfrm>
          <a:prstGeom prst="roundRect">
            <a:avLst>
              <a:gd name="adj" fmla="val 11695"/>
            </a:avLst>
          </a:prstGeom>
          <a:gradFill rotWithShape="1">
            <a:gsLst>
              <a:gs pos="0">
                <a:srgbClr val="2B5EA7"/>
              </a:gs>
              <a:gs pos="100000">
                <a:srgbClr val="1B4A8A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1" name="Text 28"/>
          <p:cNvSpPr/>
          <p:nvPr/>
        </p:nvSpPr>
        <p:spPr>
          <a:xfrm>
            <a:off x="609601" y="4751389"/>
            <a:ext cx="3661767" cy="556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53" b="1" kern="0" spc="-4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$20–35M</a:t>
            </a:r>
            <a:endParaRPr lang="en-US" sz="1653" dirty="0"/>
          </a:p>
          <a:p>
            <a:pPr algn="ctr"/>
            <a:r>
              <a:rPr lang="en-US" sz="907" kern="0" spc="2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Impact</a:t>
            </a:r>
            <a:endParaRPr lang="en-US" sz="1653" dirty="0"/>
          </a:p>
        </p:txBody>
      </p:sp>
      <p:sp>
        <p:nvSpPr>
          <p:cNvPr id="42" name="Text 29"/>
          <p:cNvSpPr/>
          <p:nvPr/>
        </p:nvSpPr>
        <p:spPr>
          <a:xfrm>
            <a:off x="4258667" y="4751388"/>
            <a:ext cx="12700" cy="50601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3" name="Text 30"/>
          <p:cNvSpPr/>
          <p:nvPr/>
        </p:nvSpPr>
        <p:spPr>
          <a:xfrm>
            <a:off x="4271367" y="4751389"/>
            <a:ext cx="3661965" cy="556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53" b="1" kern="0" spc="-4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7–12x</a:t>
            </a:r>
            <a:endParaRPr lang="en-US" sz="1653" dirty="0"/>
          </a:p>
          <a:p>
            <a:pPr algn="ctr"/>
            <a:r>
              <a:rPr lang="en-US" sz="907" kern="0" spc="2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653" dirty="0"/>
          </a:p>
        </p:txBody>
      </p:sp>
      <p:sp>
        <p:nvSpPr>
          <p:cNvPr id="44" name="Text 31"/>
          <p:cNvSpPr/>
          <p:nvPr/>
        </p:nvSpPr>
        <p:spPr>
          <a:xfrm>
            <a:off x="7920634" y="4751388"/>
            <a:ext cx="12700" cy="50601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5" name="Text 32"/>
          <p:cNvSpPr/>
          <p:nvPr/>
        </p:nvSpPr>
        <p:spPr>
          <a:xfrm>
            <a:off x="7750880" y="4751388"/>
            <a:ext cx="401397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80"/>
              </a:lnSpc>
            </a:pPr>
            <a:r>
              <a:rPr lang="en-US" sz="1653" b="1" kern="0" spc="-4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Reusable AI</a:t>
            </a:r>
            <a:endParaRPr lang="en-US" sz="1653" dirty="0"/>
          </a:p>
        </p:txBody>
      </p:sp>
      <p:sp>
        <p:nvSpPr>
          <p:cNvPr id="46" name="Text 33"/>
          <p:cNvSpPr/>
          <p:nvPr/>
        </p:nvSpPr>
        <p:spPr>
          <a:xfrm>
            <a:off x="7750880" y="5084763"/>
            <a:ext cx="4013973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60"/>
              </a:lnSpc>
            </a:pPr>
            <a:r>
              <a:rPr lang="en-US" sz="907" kern="0" spc="27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All Agencies</a:t>
            </a:r>
            <a:endParaRPr lang="en-US" sz="907" dirty="0"/>
          </a:p>
        </p:txBody>
      </p:sp>
      <p:sp>
        <p:nvSpPr>
          <p:cNvPr id="47" name="Text 34"/>
          <p:cNvSpPr/>
          <p:nvPr/>
        </p:nvSpPr>
        <p:spPr>
          <a:xfrm>
            <a:off x="609600" y="5562203"/>
            <a:ext cx="11192256" cy="588367"/>
          </a:xfrm>
          <a:prstGeom prst="rect">
            <a:avLst/>
          </a:prstGeom>
          <a:solidFill>
            <a:srgbClr val="F2F5F8"/>
          </a:solidFill>
          <a:ln/>
        </p:spPr>
        <p:txBody>
          <a:bodyPr wrap="none" lIns="191347" tIns="115147" rIns="191347" bIns="115147" rtlCol="0" anchor="t"/>
          <a:lstStyle/>
          <a:p>
            <a:r>
              <a:rPr lang="en-US" sz="747" b="1" kern="0" spc="10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</a:t>
            </a:r>
            <a:endParaRPr lang="en-US" sz="747" dirty="0"/>
          </a:p>
          <a:p>
            <a:r>
              <a:rPr lang="en-US" sz="1053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compounds across operations, public outcomes, and long-term city strategy.</a:t>
            </a:r>
            <a:endParaRPr lang="en-US" sz="747" dirty="0"/>
          </a:p>
        </p:txBody>
      </p:sp>
      <p:sp>
        <p:nvSpPr>
          <p:cNvPr id="48" name="Text 35"/>
          <p:cNvSpPr/>
          <p:nvPr/>
        </p:nvSpPr>
        <p:spPr>
          <a:xfrm>
            <a:off x="609601" y="5562203"/>
            <a:ext cx="38100" cy="588367"/>
          </a:xfrm>
          <a:prstGeom prst="rect">
            <a:avLst/>
          </a:pr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9" name="Text 36"/>
          <p:cNvSpPr/>
          <p:nvPr/>
        </p:nvSpPr>
        <p:spPr>
          <a:xfrm>
            <a:off x="609600" y="1387674"/>
            <a:ext cx="3505200" cy="47228"/>
          </a:xfrm>
          <a:custGeom>
            <a:avLst/>
            <a:gdLst/>
            <a:ahLst/>
            <a:cxnLst/>
            <a:rect l="l" t="t" r="r" b="b"/>
            <a:pathLst>
              <a:path w="2628900" h="35421">
                <a:moveTo>
                  <a:pt x="86360" y="0"/>
                </a:moveTo>
                <a:lnTo>
                  <a:pt x="2542540" y="0"/>
                </a:lnTo>
                <a:lnTo>
                  <a:pt x="2569837" y="4428"/>
                </a:lnTo>
                <a:lnTo>
                  <a:pt x="2580633" y="8855"/>
                </a:lnTo>
                <a:lnTo>
                  <a:pt x="2588559" y="13283"/>
                </a:lnTo>
                <a:lnTo>
                  <a:pt x="2594936" y="17711"/>
                </a:lnTo>
                <a:lnTo>
                  <a:pt x="2600277" y="22138"/>
                </a:lnTo>
                <a:lnTo>
                  <a:pt x="2604851" y="26566"/>
                </a:lnTo>
                <a:lnTo>
                  <a:pt x="2608817" y="30993"/>
                </a:lnTo>
                <a:lnTo>
                  <a:pt x="2612277" y="35421"/>
                </a:lnTo>
                <a:lnTo>
                  <a:pt x="16623" y="35421"/>
                </a:lnTo>
                <a:lnTo>
                  <a:pt x="20083" y="30993"/>
                </a:lnTo>
                <a:lnTo>
                  <a:pt x="24049" y="26566"/>
                </a:lnTo>
                <a:lnTo>
                  <a:pt x="28623" y="22138"/>
                </a:lnTo>
                <a:lnTo>
                  <a:pt x="33964" y="17711"/>
                </a:lnTo>
                <a:lnTo>
                  <a:pt x="40341" y="13283"/>
                </a:lnTo>
                <a:lnTo>
                  <a:pt x="48267" y="8855"/>
                </a:lnTo>
                <a:lnTo>
                  <a:pt x="59063" y="4428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0" name="Text 37"/>
          <p:cNvSpPr/>
          <p:nvPr/>
        </p:nvSpPr>
        <p:spPr>
          <a:xfrm>
            <a:off x="4343400" y="1387674"/>
            <a:ext cx="3505200" cy="47228"/>
          </a:xfrm>
          <a:custGeom>
            <a:avLst/>
            <a:gdLst/>
            <a:ahLst/>
            <a:cxnLst/>
            <a:rect l="l" t="t" r="r" b="b"/>
            <a:pathLst>
              <a:path w="2628900" h="35421">
                <a:moveTo>
                  <a:pt x="86360" y="0"/>
                </a:moveTo>
                <a:lnTo>
                  <a:pt x="2542540" y="0"/>
                </a:lnTo>
                <a:lnTo>
                  <a:pt x="2569837" y="4428"/>
                </a:lnTo>
                <a:lnTo>
                  <a:pt x="2580633" y="8855"/>
                </a:lnTo>
                <a:lnTo>
                  <a:pt x="2588559" y="13283"/>
                </a:lnTo>
                <a:lnTo>
                  <a:pt x="2594936" y="17711"/>
                </a:lnTo>
                <a:lnTo>
                  <a:pt x="2600277" y="22138"/>
                </a:lnTo>
                <a:lnTo>
                  <a:pt x="2604851" y="26566"/>
                </a:lnTo>
                <a:lnTo>
                  <a:pt x="2608817" y="30993"/>
                </a:lnTo>
                <a:lnTo>
                  <a:pt x="2612277" y="35421"/>
                </a:lnTo>
                <a:lnTo>
                  <a:pt x="16623" y="35421"/>
                </a:lnTo>
                <a:lnTo>
                  <a:pt x="20083" y="30993"/>
                </a:lnTo>
                <a:lnTo>
                  <a:pt x="24049" y="26566"/>
                </a:lnTo>
                <a:lnTo>
                  <a:pt x="28623" y="22138"/>
                </a:lnTo>
                <a:lnTo>
                  <a:pt x="33964" y="17711"/>
                </a:lnTo>
                <a:lnTo>
                  <a:pt x="40341" y="13283"/>
                </a:lnTo>
                <a:lnTo>
                  <a:pt x="48267" y="8855"/>
                </a:lnTo>
                <a:lnTo>
                  <a:pt x="59063" y="4428"/>
                </a:lnTo>
                <a:close/>
              </a:path>
            </a:pathLst>
          </a:custGeom>
          <a:solidFill>
            <a:srgbClr val="1B7A5A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1" name="Text 38"/>
          <p:cNvSpPr/>
          <p:nvPr/>
        </p:nvSpPr>
        <p:spPr>
          <a:xfrm>
            <a:off x="8077200" y="1387674"/>
            <a:ext cx="3505200" cy="47228"/>
          </a:xfrm>
          <a:custGeom>
            <a:avLst/>
            <a:gdLst/>
            <a:ahLst/>
            <a:cxnLst/>
            <a:rect l="l" t="t" r="r" b="b"/>
            <a:pathLst>
              <a:path w="2628900" h="35421">
                <a:moveTo>
                  <a:pt x="86360" y="0"/>
                </a:moveTo>
                <a:lnTo>
                  <a:pt x="2542540" y="0"/>
                </a:lnTo>
                <a:lnTo>
                  <a:pt x="2569837" y="4428"/>
                </a:lnTo>
                <a:lnTo>
                  <a:pt x="2580633" y="8855"/>
                </a:lnTo>
                <a:lnTo>
                  <a:pt x="2588559" y="13283"/>
                </a:lnTo>
                <a:lnTo>
                  <a:pt x="2594936" y="17711"/>
                </a:lnTo>
                <a:lnTo>
                  <a:pt x="2600277" y="22138"/>
                </a:lnTo>
                <a:lnTo>
                  <a:pt x="2604851" y="26566"/>
                </a:lnTo>
                <a:lnTo>
                  <a:pt x="2608817" y="30993"/>
                </a:lnTo>
                <a:lnTo>
                  <a:pt x="2612277" y="35421"/>
                </a:lnTo>
                <a:lnTo>
                  <a:pt x="16623" y="35421"/>
                </a:lnTo>
                <a:lnTo>
                  <a:pt x="20083" y="30993"/>
                </a:lnTo>
                <a:lnTo>
                  <a:pt x="24049" y="26566"/>
                </a:lnTo>
                <a:lnTo>
                  <a:pt x="28623" y="22138"/>
                </a:lnTo>
                <a:lnTo>
                  <a:pt x="33964" y="17711"/>
                </a:lnTo>
                <a:lnTo>
                  <a:pt x="40341" y="13283"/>
                </a:lnTo>
                <a:lnTo>
                  <a:pt x="48267" y="8855"/>
                </a:lnTo>
                <a:lnTo>
                  <a:pt x="59063" y="4428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1"/>
            <a:ext cx="1952029" cy="258663"/>
          </a:xfrm>
          <a:prstGeom prst="roundRect">
            <a:avLst>
              <a:gd name="adj" fmla="val 11129"/>
            </a:avLst>
          </a:prstGeom>
          <a:solidFill>
            <a:srgbClr val="2B5EA7"/>
          </a:solidFill>
          <a:ln/>
        </p:spPr>
        <p:txBody>
          <a:bodyPr wrap="none" lIns="0" tIns="0" rIns="0" bIns="0" rtlCol="0" anchor="ctr"/>
          <a:lstStyle/>
          <a:p>
            <a:pPr algn="ctr"/>
            <a:r>
              <a:rPr lang="en-US" sz="82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DECISION</a:t>
            </a:r>
            <a:endParaRPr lang="en-US" sz="827" dirty="0"/>
          </a:p>
        </p:txBody>
      </p:sp>
      <p:sp>
        <p:nvSpPr>
          <p:cNvPr id="3" name="Text 1"/>
          <p:cNvSpPr/>
          <p:nvPr/>
        </p:nvSpPr>
        <p:spPr>
          <a:xfrm>
            <a:off x="609600" y="807443"/>
            <a:ext cx="11740896" cy="334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33"/>
              </a:lnSpc>
              <a:spcAft>
                <a:spcPts val="453"/>
              </a:spcAft>
            </a:pPr>
            <a:r>
              <a:rPr lang="en-US" sz="2107" b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 Launch of Model 5a Pilot as Anchor UrbanPulse AI Use Case</a:t>
            </a:r>
            <a:endParaRPr lang="en-US" sz="2107" dirty="0"/>
          </a:p>
        </p:txBody>
      </p:sp>
      <p:sp>
        <p:nvSpPr>
          <p:cNvPr id="4" name="Text 2"/>
          <p:cNvSpPr/>
          <p:nvPr/>
        </p:nvSpPr>
        <p:spPr>
          <a:xfrm>
            <a:off x="609600" y="1199356"/>
            <a:ext cx="685800" cy="38893"/>
          </a:xfrm>
          <a:prstGeom prst="roundRect">
            <a:avLst>
              <a:gd name="adj" fmla="val 47892"/>
            </a:avLst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1505744"/>
            <a:ext cx="10972800" cy="714971"/>
          </a:xfrm>
          <a:prstGeom prst="roundRect">
            <a:avLst>
              <a:gd name="adj" fmla="val 10658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1" y="1505744"/>
            <a:ext cx="38100" cy="714971"/>
          </a:xfrm>
          <a:custGeom>
            <a:avLst/>
            <a:gdLst/>
            <a:ahLst/>
            <a:cxnLst/>
            <a:rect l="l" t="t" r="r" b="b"/>
            <a:pathLst>
              <a:path w="28575" h="536228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528571"/>
                </a:lnTo>
                <a:lnTo>
                  <a:pt x="25003" y="526329"/>
                </a:lnTo>
                <a:lnTo>
                  <a:pt x="21431" y="523690"/>
                </a:lnTo>
                <a:lnTo>
                  <a:pt x="17859" y="520579"/>
                </a:lnTo>
                <a:lnTo>
                  <a:pt x="14288" y="516879"/>
                </a:lnTo>
                <a:lnTo>
                  <a:pt x="10716" y="512394"/>
                </a:lnTo>
                <a:lnTo>
                  <a:pt x="7144" y="506745"/>
                </a:lnTo>
                <a:lnTo>
                  <a:pt x="3572" y="498965"/>
                </a:lnTo>
                <a:lnTo>
                  <a:pt x="0" y="479078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76300" y="1691283"/>
            <a:ext cx="343693" cy="343693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9656" y="1774639"/>
            <a:ext cx="176784" cy="1767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2393" y="1639492"/>
            <a:ext cx="5320387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28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90-Day Pilot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1372393" y="1901627"/>
            <a:ext cx="5320387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complaint routing optimizer with priority agencies and baseline KPI measurement</a:t>
            </a:r>
            <a:endParaRPr lang="en-US" sz="973" dirty="0"/>
          </a:p>
        </p:txBody>
      </p:sp>
      <p:sp>
        <p:nvSpPr>
          <p:cNvPr id="11" name="Text 8"/>
          <p:cNvSpPr/>
          <p:nvPr/>
        </p:nvSpPr>
        <p:spPr>
          <a:xfrm>
            <a:off x="609600" y="2335808"/>
            <a:ext cx="10972800" cy="714971"/>
          </a:xfrm>
          <a:prstGeom prst="roundRect">
            <a:avLst>
              <a:gd name="adj" fmla="val 10658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9601" y="2335808"/>
            <a:ext cx="38100" cy="714971"/>
          </a:xfrm>
          <a:custGeom>
            <a:avLst/>
            <a:gdLst/>
            <a:ahLst/>
            <a:cxnLst/>
            <a:rect l="l" t="t" r="r" b="b"/>
            <a:pathLst>
              <a:path w="28575" h="536228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528571"/>
                </a:lnTo>
                <a:lnTo>
                  <a:pt x="25003" y="526329"/>
                </a:lnTo>
                <a:lnTo>
                  <a:pt x="21431" y="523690"/>
                </a:lnTo>
                <a:lnTo>
                  <a:pt x="17859" y="520579"/>
                </a:lnTo>
                <a:lnTo>
                  <a:pt x="14288" y="516879"/>
                </a:lnTo>
                <a:lnTo>
                  <a:pt x="10716" y="512394"/>
                </a:lnTo>
                <a:lnTo>
                  <a:pt x="7144" y="506745"/>
                </a:lnTo>
                <a:lnTo>
                  <a:pt x="3572" y="498965"/>
                </a:lnTo>
                <a:lnTo>
                  <a:pt x="0" y="479078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76300" y="2521347"/>
            <a:ext cx="343693" cy="343693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9656" y="2604703"/>
            <a:ext cx="176784" cy="1767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2394" y="2469556"/>
            <a:ext cx="4435039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28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Joint Solution Design Sprint</a:t>
            </a:r>
            <a:endParaRPr lang="en-US" sz="1280" dirty="0"/>
          </a:p>
        </p:txBody>
      </p:sp>
      <p:sp>
        <p:nvSpPr>
          <p:cNvPr id="16" name="Text 12"/>
          <p:cNvSpPr/>
          <p:nvPr/>
        </p:nvSpPr>
        <p:spPr>
          <a:xfrm>
            <a:off x="1372394" y="2731691"/>
            <a:ext cx="4435039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Co-create integration architecture with city operations and IT stakeholders</a:t>
            </a:r>
            <a:endParaRPr lang="en-US" sz="973" dirty="0"/>
          </a:p>
        </p:txBody>
      </p:sp>
      <p:sp>
        <p:nvSpPr>
          <p:cNvPr id="17" name="Text 13"/>
          <p:cNvSpPr/>
          <p:nvPr/>
        </p:nvSpPr>
        <p:spPr>
          <a:xfrm>
            <a:off x="609600" y="3165872"/>
            <a:ext cx="10972800" cy="714971"/>
          </a:xfrm>
          <a:prstGeom prst="roundRect">
            <a:avLst>
              <a:gd name="adj" fmla="val 10658"/>
            </a:avLst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609601" y="3165872"/>
            <a:ext cx="38100" cy="714971"/>
          </a:xfrm>
          <a:custGeom>
            <a:avLst/>
            <a:gdLst/>
            <a:ahLst/>
            <a:cxnLst/>
            <a:rect l="l" t="t" r="r" b="b"/>
            <a:pathLst>
              <a:path w="28575" h="536228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528571"/>
                </a:lnTo>
                <a:lnTo>
                  <a:pt x="25003" y="526329"/>
                </a:lnTo>
                <a:lnTo>
                  <a:pt x="21431" y="523690"/>
                </a:lnTo>
                <a:lnTo>
                  <a:pt x="17859" y="520579"/>
                </a:lnTo>
                <a:lnTo>
                  <a:pt x="14288" y="516879"/>
                </a:lnTo>
                <a:lnTo>
                  <a:pt x="10716" y="512394"/>
                </a:lnTo>
                <a:lnTo>
                  <a:pt x="7144" y="506745"/>
                </a:lnTo>
                <a:lnTo>
                  <a:pt x="3572" y="498965"/>
                </a:lnTo>
                <a:lnTo>
                  <a:pt x="0" y="479078"/>
                </a:lnTo>
                <a:close/>
              </a:path>
            </a:pathLst>
          </a:custGeom>
          <a:solidFill>
            <a:srgbClr val="2B5EA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76300" y="3351411"/>
            <a:ext cx="343693" cy="343693"/>
          </a:xfrm>
          <a:prstGeom prst="ellipse">
            <a:avLst/>
          </a:prstGeom>
          <a:solidFill>
            <a:srgbClr val="2B5EA7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656" y="3434767"/>
            <a:ext cx="176784" cy="1767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2393" y="3299620"/>
            <a:ext cx="4709200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28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UrbanPulse AI Roadmap Planning</a:t>
            </a:r>
            <a:endParaRPr lang="en-US" sz="1280" dirty="0"/>
          </a:p>
        </p:txBody>
      </p:sp>
      <p:sp>
        <p:nvSpPr>
          <p:cNvPr id="22" name="Text 17"/>
          <p:cNvSpPr/>
          <p:nvPr/>
        </p:nvSpPr>
        <p:spPr>
          <a:xfrm>
            <a:off x="1372393" y="3561755"/>
            <a:ext cx="470920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cross-agency scaling path and multi-model platform expansion strategy</a:t>
            </a:r>
            <a:endParaRPr lang="en-US" sz="973" dirty="0"/>
          </a:p>
        </p:txBody>
      </p:sp>
      <p:sp>
        <p:nvSpPr>
          <p:cNvPr id="23" name="Text 18"/>
          <p:cNvSpPr/>
          <p:nvPr/>
        </p:nvSpPr>
        <p:spPr>
          <a:xfrm>
            <a:off x="60960" y="4148337"/>
            <a:ext cx="12070080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1920"/>
              </a:lnSpc>
            </a:pPr>
            <a:r>
              <a:rPr lang="en-US" sz="1280" kern="0" spc="2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we can help Nova Haven become: </a:t>
            </a:r>
            <a:r>
              <a:rPr lang="en-US" sz="1280" b="1" kern="0" spc="2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Safer.</a:t>
            </a:r>
            <a:r>
              <a:rPr lang="en-US" sz="1280" kern="0" spc="2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80" b="1" kern="0" spc="2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Smarter.</a:t>
            </a:r>
            <a:r>
              <a:rPr lang="en-US" sz="1280" kern="0" spc="2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80" b="1" kern="0" spc="2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Responsive.</a:t>
            </a:r>
            <a:r>
              <a:rPr lang="en-US" sz="1280" kern="0" spc="27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80" b="1" kern="0" spc="27" dirty="0">
                <a:solidFill>
                  <a:srgbClr val="2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Predictive.</a:t>
            </a:r>
            <a:endParaRPr lang="en-US" sz="1280" dirty="0"/>
          </a:p>
        </p:txBody>
      </p:sp>
      <p:sp>
        <p:nvSpPr>
          <p:cNvPr id="24" name="Text 19"/>
          <p:cNvSpPr/>
          <p:nvPr/>
        </p:nvSpPr>
        <p:spPr>
          <a:xfrm>
            <a:off x="4052710" y="5038726"/>
            <a:ext cx="4086583" cy="75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817"/>
              </a:lnSpc>
            </a:pPr>
            <a:r>
              <a:rPr lang="en-US" sz="2253" b="1" kern="0" spc="-27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the AI Operating System</a:t>
            </a:r>
            <a:br>
              <a:rPr sz="2400"/>
            </a:br>
            <a:r>
              <a:rPr lang="en-US" sz="2253" b="1" kern="0" spc="-27" dirty="0">
                <a:solidFill>
                  <a:srgbClr val="2B5E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the Future of Cities.</a:t>
            </a:r>
            <a:endParaRPr lang="en-US" sz="2253" dirty="0"/>
          </a:p>
        </p:txBody>
      </p:sp>
      <p:sp>
        <p:nvSpPr>
          <p:cNvPr id="25" name="Text 20"/>
          <p:cNvSpPr/>
          <p:nvPr/>
        </p:nvSpPr>
        <p:spPr>
          <a:xfrm>
            <a:off x="0" y="6384728"/>
            <a:ext cx="12192000" cy="473273"/>
          </a:xfrm>
          <a:prstGeom prst="rect">
            <a:avLst/>
          </a:prstGeom>
          <a:solidFill>
            <a:srgbClr val="F2F5F8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0" y="6384727"/>
            <a:ext cx="12192000" cy="12700"/>
          </a:xfrm>
          <a:prstGeom prst="rect">
            <a:avLst/>
          </a:prstGeom>
          <a:solidFill>
            <a:srgbClr val="DDE3EA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218" y="6539223"/>
            <a:ext cx="235621" cy="1767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75109" y="6531173"/>
            <a:ext cx="6567864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20"/>
              </a:lnSpc>
            </a:pPr>
            <a:r>
              <a:rPr lang="en-US" sz="1013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Takeaway: The recommendation is clear: begin now, prove value fast, and scale the platform.</a:t>
            </a:r>
            <a:endParaRPr lang="en-US" sz="101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1283</Words>
  <Application>Microsoft Office PowerPoint</Application>
  <PresentationFormat>Widescreen</PresentationFormat>
  <Paragraphs>304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Weiqun Zhu</dc:creator>
  <cp:lastModifiedBy>Weiqun Zhu</cp:lastModifiedBy>
  <cp:revision>1</cp:revision>
  <dcterms:created xsi:type="dcterms:W3CDTF">2026-04-27T15:38:52Z</dcterms:created>
  <dcterms:modified xsi:type="dcterms:W3CDTF">2026-04-27T15:40:58Z</dcterms:modified>
</cp:coreProperties>
</file>